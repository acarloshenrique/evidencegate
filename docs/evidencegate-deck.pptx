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938" dt="2026-09-20T13:40:31.1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533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65EFD"/>
                </a:solidFill>
                <a:latin typeface="Inter"/>
              </a:rPr>
              <a:t>NEURALAKE · CHALLENGE 5 — AGENT TRUST &amp;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FFFFFF"/>
                </a:solidFill>
                <a:latin typeface="Inter"/>
              </a:rPr>
              <a:t>EvidenceGate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DBE3F5"/>
                </a:solidFill>
                <a:latin typeface="Inter"/>
              </a:rPr>
              <a:t>Fé pública programável para a economia de agentes.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886200"/>
            <a:ext cx="10515600" cy="9525"/>
          </a:xfrm>
          <a:prstGeom prst="rect">
            <a:avLst/>
          </a:prstGeom>
          <a:solidFill>
            <a:srgbClr val="1C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4206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665EFD"/>
                </a:solidFill>
                <a:latin typeface="Inter"/>
              </a:rPr>
              <a:t>Quando agentes pagam agentes, quem confere o trabalho?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8B8"/>
                </a:solidFill>
                <a:latin typeface="Inter"/>
              </a:rPr>
              <a:t>evidencegate.163-192-115-82.sslip.io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65EFD"/>
                </a:solidFill>
                <a:latin typeface="Inter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Inter"/>
              </a:rPr>
              <a:t>Os trilhos movem dinheiro.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Inter"/>
              </a:rPr>
              <a:t>Ninguém confere o trabalho.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77440"/>
            <a:ext cx="10515600" cy="9525"/>
          </a:xfrm>
          <a:prstGeom prst="rect">
            <a:avLst/>
          </a:prstGeom>
          <a:solidFill>
            <a:srgbClr val="1C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265684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38BDF8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679192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Inter"/>
              </a:rPr>
              <a:t>A2A fez agentes conversarem. x402 e AP2 fizeram agentes pagarem.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108960"/>
            <a:ext cx="9875520" cy="3231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500" dirty="0">
                <a:solidFill>
                  <a:srgbClr val="8B98B8"/>
                </a:solidFill>
                <a:latin typeface="Inter"/>
              </a:rPr>
              <a:t>O </a:t>
            </a:r>
            <a:r>
              <a:rPr lang="en-US" sz="1500" dirty="0" err="1">
                <a:solidFill>
                  <a:srgbClr val="8B98B8"/>
                </a:solidFill>
                <a:latin typeface="Inter"/>
              </a:rPr>
              <a:t>processo</a:t>
            </a:r>
            <a:r>
              <a:rPr lang="en-US" sz="1500" dirty="0">
                <a:solidFill>
                  <a:srgbClr val="8B98B8"/>
                </a:solidFill>
                <a:latin typeface="Inter"/>
              </a:rPr>
              <a:t> </a:t>
            </a:r>
            <a:r>
              <a:rPr lang="en-US" sz="1500" dirty="0" err="1">
                <a:solidFill>
                  <a:srgbClr val="8B98B8"/>
                </a:solidFill>
                <a:latin typeface="Inter"/>
              </a:rPr>
              <a:t>existe</a:t>
            </a:r>
            <a:r>
              <a:rPr lang="en-US" sz="1500" dirty="0">
                <a:solidFill>
                  <a:srgbClr val="8B98B8"/>
                </a:solidFill>
                <a:latin typeface="Inter"/>
              </a:rPr>
              <a:t>, mas </a:t>
            </a:r>
            <a:r>
              <a:rPr lang="en-US" sz="1500" dirty="0" err="1">
                <a:solidFill>
                  <a:srgbClr val="8B98B8"/>
                </a:solidFill>
                <a:latin typeface="Inter"/>
              </a:rPr>
              <a:t>carece</a:t>
            </a:r>
            <a:r>
              <a:rPr lang="en-US" sz="1500" dirty="0">
                <a:solidFill>
                  <a:srgbClr val="8B98B8"/>
                </a:solidFill>
                <a:latin typeface="Inter"/>
              </a:rPr>
              <a:t> de </a:t>
            </a:r>
            <a:r>
              <a:rPr lang="en-US" sz="1500" dirty="0" err="1">
                <a:solidFill>
                  <a:srgbClr val="8B98B8"/>
                </a:solidFill>
                <a:latin typeface="Inter"/>
              </a:rPr>
              <a:t>controle</a:t>
            </a:r>
            <a:r>
              <a:rPr lang="en-US" sz="1500" dirty="0">
                <a:solidFill>
                  <a:srgbClr val="8B98B8"/>
                </a:solidFill>
                <a:latin typeface="Inter"/>
              </a:rPr>
              <a:t> de </a:t>
            </a:r>
            <a:r>
              <a:rPr lang="en-US" sz="1500" b="0" dirty="0" err="1">
                <a:solidFill>
                  <a:srgbClr val="8B98B8"/>
                </a:solidFill>
                <a:latin typeface="Inter"/>
              </a:rPr>
              <a:t>qualidade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839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BBF24"/>
                </a:solidFill>
                <a:latin typeface="Inter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730752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Inter"/>
              </a:rPr>
              <a:t>Humano conferindo cada transação não escala.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160520"/>
            <a:ext cx="9875520" cy="3231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500" dirty="0" err="1">
                <a:solidFill>
                  <a:srgbClr val="8B98B8"/>
                </a:solidFill>
                <a:latin typeface="Inter"/>
              </a:rPr>
              <a:t>Agentes</a:t>
            </a:r>
            <a:r>
              <a:rPr lang="en-US" sz="1500" dirty="0">
                <a:solidFill>
                  <a:srgbClr val="8B98B8"/>
                </a:solidFill>
                <a:latin typeface="Inter"/>
              </a:rPr>
              <a:t> </a:t>
            </a:r>
            <a:r>
              <a:rPr lang="en-US" sz="1500" dirty="0" err="1">
                <a:solidFill>
                  <a:srgbClr val="8B98B8"/>
                </a:solidFill>
                <a:latin typeface="Inter"/>
              </a:rPr>
              <a:t>trabalham</a:t>
            </a:r>
            <a:r>
              <a:rPr lang="en-US" sz="1500" dirty="0">
                <a:solidFill>
                  <a:srgbClr val="8B98B8"/>
                </a:solidFill>
                <a:latin typeface="Inter"/>
              </a:rPr>
              <a:t> </a:t>
            </a:r>
            <a:r>
              <a:rPr lang="en-US" sz="1500" dirty="0" err="1">
                <a:solidFill>
                  <a:srgbClr val="8B98B8"/>
                </a:solidFill>
                <a:latin typeface="Inter"/>
              </a:rPr>
              <a:t>em</a:t>
            </a:r>
            <a:r>
              <a:rPr lang="en-US" sz="1500" dirty="0">
                <a:solidFill>
                  <a:srgbClr val="8B98B8"/>
                </a:solidFill>
                <a:latin typeface="Inter"/>
              </a:rPr>
              <a:t> </a:t>
            </a:r>
            <a:r>
              <a:rPr lang="en-US" sz="1500" dirty="0" err="1">
                <a:solidFill>
                  <a:srgbClr val="8B98B8"/>
                </a:solidFill>
                <a:latin typeface="Inter"/>
              </a:rPr>
              <a:t>milissegundos</a:t>
            </a:r>
            <a:r>
              <a:rPr lang="en-US" sz="1500" dirty="0">
                <a:solidFill>
                  <a:srgbClr val="8B98B8"/>
                </a:solidFill>
                <a:latin typeface="Inter"/>
              </a:rPr>
              <a:t> e o ser </a:t>
            </a:r>
            <a:r>
              <a:rPr lang="en-US" sz="1500" dirty="0" err="1">
                <a:solidFill>
                  <a:srgbClr val="8B98B8"/>
                </a:solidFill>
                <a:latin typeface="Inter"/>
              </a:rPr>
              <a:t>humano</a:t>
            </a:r>
            <a:r>
              <a:rPr lang="en-US" sz="1500" dirty="0">
                <a:solidFill>
                  <a:srgbClr val="8B98B8"/>
                </a:solidFill>
                <a:latin typeface="Inter"/>
              </a:rPr>
              <a:t> </a:t>
            </a:r>
            <a:r>
              <a:rPr lang="en-US" sz="1500" dirty="0" err="1">
                <a:solidFill>
                  <a:srgbClr val="8B98B8"/>
                </a:solidFill>
                <a:latin typeface="Inter"/>
              </a:rPr>
              <a:t>não</a:t>
            </a:r>
            <a:r>
              <a:rPr lang="en-US" sz="1500" dirty="0">
                <a:solidFill>
                  <a:srgbClr val="8B98B8"/>
                </a:solidFill>
                <a:latin typeface="Inter"/>
              </a:rPr>
              <a:t> </a:t>
            </a:r>
            <a:r>
              <a:rPr lang="en-US" sz="1500" dirty="0" err="1">
                <a:solidFill>
                  <a:srgbClr val="8B98B8"/>
                </a:solidFill>
                <a:latin typeface="Inter"/>
              </a:rPr>
              <a:t>consegue</a:t>
            </a:r>
            <a:r>
              <a:rPr lang="en-US" sz="1500" dirty="0">
                <a:solidFill>
                  <a:srgbClr val="8B98B8"/>
                </a:solidFill>
                <a:latin typeface="Inter"/>
              </a:rPr>
              <a:t> </a:t>
            </a:r>
            <a:r>
              <a:rPr lang="en-US" sz="1500" dirty="0" err="1">
                <a:solidFill>
                  <a:srgbClr val="8B98B8"/>
                </a:solidFill>
                <a:latin typeface="Inter"/>
              </a:rPr>
              <a:t>acompanhar</a:t>
            </a:r>
            <a:endParaRPr lang="en-US" sz="1500" b="0" dirty="0" err="1">
              <a:solidFill>
                <a:srgbClr val="8B98B8"/>
              </a:solidFill>
              <a:latin typeface="Inte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22960" y="47599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87171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782312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Inter"/>
              </a:rPr>
              <a:t>Empresa nenhuma deixa agente mover dinheiro sem prova.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5212080"/>
            <a:ext cx="9875520" cy="3231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sz="1500" b="0" dirty="0">
                <a:solidFill>
                  <a:srgbClr val="8B98B8"/>
                </a:solidFill>
                <a:latin typeface="Inter"/>
              </a:rPr>
              <a:t>Sem </a:t>
            </a:r>
            <a:r>
              <a:rPr lang="en-US" sz="1500" dirty="0">
                <a:solidFill>
                  <a:srgbClr val="8B98B8"/>
                </a:solidFill>
                <a:latin typeface="Inter"/>
              </a:rPr>
              <a:t>a </a:t>
            </a:r>
            <a:r>
              <a:rPr sz="1500" b="0" dirty="0" err="1">
                <a:solidFill>
                  <a:srgbClr val="8B98B8"/>
                </a:solidFill>
                <a:latin typeface="Inter"/>
              </a:rPr>
              <a:t>camada</a:t>
            </a:r>
            <a:r>
              <a:rPr sz="1500" b="0" dirty="0">
                <a:solidFill>
                  <a:srgbClr val="8B98B8"/>
                </a:solidFill>
                <a:latin typeface="Inter"/>
              </a:rPr>
              <a:t> de </a:t>
            </a:r>
            <a:r>
              <a:rPr sz="1500" b="0" dirty="0" err="1">
                <a:solidFill>
                  <a:srgbClr val="8B98B8"/>
                </a:solidFill>
                <a:latin typeface="Inter"/>
              </a:rPr>
              <a:t>verificação</a:t>
            </a:r>
            <a:r>
              <a:rPr sz="1500" b="0" dirty="0">
                <a:solidFill>
                  <a:srgbClr val="8B98B8"/>
                </a:solidFill>
                <a:latin typeface="Inter"/>
              </a:rPr>
              <a:t> </a:t>
            </a:r>
            <a:r>
              <a:rPr lang="en-US" sz="1500" dirty="0">
                <a:solidFill>
                  <a:srgbClr val="8B98B8"/>
                </a:solidFill>
                <a:latin typeface="Inter"/>
              </a:rPr>
              <a:t>e </a:t>
            </a:r>
            <a:r>
              <a:rPr lang="en-US" sz="1500" dirty="0" err="1">
                <a:solidFill>
                  <a:srgbClr val="8B98B8"/>
                </a:solidFill>
                <a:latin typeface="Inter"/>
              </a:rPr>
              <a:t>controle</a:t>
            </a:r>
            <a:r>
              <a:rPr lang="en-US" sz="1500" dirty="0">
                <a:solidFill>
                  <a:srgbClr val="8B98B8"/>
                </a:solidFill>
                <a:latin typeface="Inter"/>
              </a:rPr>
              <a:t>, </a:t>
            </a:r>
            <a:r>
              <a:rPr lang="en-US" sz="1500" dirty="0" err="1">
                <a:solidFill>
                  <a:srgbClr val="8B98B8"/>
                </a:solidFill>
                <a:latin typeface="Inter"/>
              </a:rPr>
              <a:t>pagamentos</a:t>
            </a:r>
            <a:r>
              <a:rPr lang="en-US" sz="1500" dirty="0">
                <a:solidFill>
                  <a:srgbClr val="8B98B8"/>
                </a:solidFill>
                <a:latin typeface="Inter"/>
              </a:rPr>
              <a:t> </a:t>
            </a:r>
            <a:r>
              <a:rPr lang="en-US" sz="1500" dirty="0" err="1">
                <a:solidFill>
                  <a:srgbClr val="8B98B8"/>
                </a:solidFill>
                <a:latin typeface="Inter"/>
              </a:rPr>
              <a:t>em</a:t>
            </a:r>
            <a:r>
              <a:rPr lang="en-US" sz="1500" dirty="0">
                <a:solidFill>
                  <a:srgbClr val="8B98B8"/>
                </a:solidFill>
                <a:latin typeface="Inter"/>
              </a:rPr>
              <a:t> </a:t>
            </a:r>
            <a:r>
              <a:rPr lang="en-US" sz="1500" dirty="0" err="1">
                <a:solidFill>
                  <a:srgbClr val="8B98B8"/>
                </a:solidFill>
                <a:latin typeface="Inter"/>
              </a:rPr>
              <a:t>escala</a:t>
            </a:r>
            <a:r>
              <a:rPr lang="en-US" sz="1500" dirty="0">
                <a:solidFill>
                  <a:srgbClr val="8B98B8"/>
                </a:solidFill>
                <a:latin typeface="Inter"/>
              </a:rPr>
              <a:t> </a:t>
            </a:r>
            <a:r>
              <a:rPr lang="en-US" sz="1500" dirty="0" err="1">
                <a:solidFill>
                  <a:srgbClr val="8B98B8"/>
                </a:solidFill>
                <a:latin typeface="Inter"/>
              </a:rPr>
              <a:t>não</a:t>
            </a:r>
            <a:r>
              <a:rPr lang="en-US" sz="1500" dirty="0">
                <a:solidFill>
                  <a:srgbClr val="8B98B8"/>
                </a:solidFill>
                <a:latin typeface="Inter"/>
              </a:rPr>
              <a:t> </a:t>
            </a:r>
            <a:r>
              <a:rPr lang="en-US" sz="1500" dirty="0" err="1">
                <a:solidFill>
                  <a:srgbClr val="8B98B8"/>
                </a:solidFill>
                <a:latin typeface="Inter"/>
              </a:rPr>
              <a:t>são</a:t>
            </a:r>
            <a:r>
              <a:rPr lang="en-US" sz="1500" dirty="0">
                <a:solidFill>
                  <a:srgbClr val="8B98B8"/>
                </a:solidFill>
                <a:latin typeface="Inter"/>
              </a:rPr>
              <a:t> </a:t>
            </a:r>
            <a:r>
              <a:rPr lang="en-US" sz="1500" dirty="0" err="1">
                <a:solidFill>
                  <a:srgbClr val="8B98B8"/>
                </a:solidFill>
                <a:latin typeface="Inter"/>
              </a:rPr>
              <a:t>viáveis</a:t>
            </a:r>
            <a:endParaRPr lang="en-US" sz="1500" b="0" dirty="0" err="1">
              <a:solidFill>
                <a:srgbClr val="8B98B8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65EFD"/>
                </a:solidFill>
                <a:latin typeface="Inter"/>
              </a:rPr>
              <a:t>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Inter"/>
              </a:rPr>
              <a:t>O cofre só abre com prova.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15600" cy="33855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sz="1600" b="0" dirty="0">
                <a:solidFill>
                  <a:srgbClr val="8B98B8"/>
                </a:solidFill>
                <a:latin typeface="Inter"/>
              </a:rPr>
              <a:t>Escrow </a:t>
            </a:r>
            <a:r>
              <a:rPr lang="en-US" sz="1600" dirty="0">
                <a:solidFill>
                  <a:srgbClr val="8B98B8"/>
                </a:solidFill>
                <a:latin typeface="Inter"/>
              </a:rPr>
              <a:t>é </a:t>
            </a:r>
            <a:r>
              <a:rPr lang="en-US" sz="1600" dirty="0" err="1">
                <a:solidFill>
                  <a:srgbClr val="8B98B8"/>
                </a:solidFill>
                <a:latin typeface="Inter"/>
              </a:rPr>
              <a:t>verificado</a:t>
            </a:r>
            <a:r>
              <a:rPr sz="1600" b="0" dirty="0">
                <a:solidFill>
                  <a:srgbClr val="8B98B8"/>
                </a:solidFill>
                <a:latin typeface="Inter"/>
              </a:rPr>
              <a:t>: </a:t>
            </a:r>
            <a:r>
              <a:rPr lang="en-US" sz="1600" dirty="0">
                <a:solidFill>
                  <a:srgbClr val="8B98B8"/>
                </a:solidFill>
                <a:latin typeface="Inter"/>
              </a:rPr>
              <a:t>o </a:t>
            </a:r>
            <a:r>
              <a:rPr sz="1600" b="0" dirty="0">
                <a:solidFill>
                  <a:srgbClr val="8B98B8"/>
                </a:solidFill>
                <a:latin typeface="Inter"/>
              </a:rPr>
              <a:t>settlement</a:t>
            </a:r>
            <a:r>
              <a:rPr lang="en-US" sz="1600" dirty="0">
                <a:solidFill>
                  <a:srgbClr val="8B98B8"/>
                </a:solidFill>
                <a:latin typeface="Inter"/>
              </a:rPr>
              <a:t> </a:t>
            </a:r>
            <a:r>
              <a:rPr lang="en-US" sz="1600" dirty="0" err="1">
                <a:solidFill>
                  <a:srgbClr val="8B98B8"/>
                </a:solidFill>
                <a:latin typeface="Inter"/>
              </a:rPr>
              <a:t>só</a:t>
            </a:r>
            <a:r>
              <a:rPr lang="en-US" sz="1600" dirty="0">
                <a:solidFill>
                  <a:srgbClr val="8B98B8"/>
                </a:solidFill>
                <a:latin typeface="Inter"/>
              </a:rPr>
              <a:t> </a:t>
            </a:r>
            <a:r>
              <a:rPr lang="en-US" sz="1600" b="0" dirty="0">
                <a:solidFill>
                  <a:srgbClr val="8B98B8"/>
                </a:solidFill>
                <a:latin typeface="Inter"/>
              </a:rPr>
              <a:t>é </a:t>
            </a:r>
            <a:r>
              <a:rPr lang="en-US" sz="1600" dirty="0" err="1">
                <a:solidFill>
                  <a:srgbClr val="8B98B8"/>
                </a:solidFill>
                <a:latin typeface="Inter"/>
              </a:rPr>
              <a:t>feito</a:t>
            </a:r>
            <a:r>
              <a:rPr lang="en-US" sz="1600" dirty="0">
                <a:solidFill>
                  <a:srgbClr val="8B98B8"/>
                </a:solidFill>
                <a:latin typeface="Inter"/>
              </a:rPr>
              <a:t> </a:t>
            </a:r>
            <a:r>
              <a:rPr lang="en-US" sz="1600" dirty="0" err="1">
                <a:solidFill>
                  <a:srgbClr val="8B98B8"/>
                </a:solidFill>
                <a:latin typeface="Inter"/>
              </a:rPr>
              <a:t>após</a:t>
            </a:r>
            <a:r>
              <a:rPr lang="en-US" sz="1600" dirty="0">
                <a:solidFill>
                  <a:srgbClr val="8B98B8"/>
                </a:solidFill>
                <a:latin typeface="Inter"/>
              </a:rPr>
              <a:t> </a:t>
            </a:r>
            <a:r>
              <a:rPr lang="en-US" sz="1600" b="0" dirty="0" err="1">
                <a:solidFill>
                  <a:srgbClr val="8B98B8"/>
                </a:solidFill>
                <a:latin typeface="Inter"/>
              </a:rPr>
              <a:t>verificação</a:t>
            </a:r>
            <a:r>
              <a:rPr lang="en-US" sz="1600" dirty="0">
                <a:solidFill>
                  <a:srgbClr val="8B98B8"/>
                </a:solidFill>
                <a:latin typeface="Inter"/>
              </a:rPr>
              <a:t> e </a:t>
            </a:r>
            <a:r>
              <a:rPr lang="en-US" sz="1600" dirty="0" err="1">
                <a:solidFill>
                  <a:srgbClr val="8B98B8"/>
                </a:solidFill>
                <a:latin typeface="Inter"/>
              </a:rPr>
              <a:t>julgamento</a:t>
            </a:r>
            <a:endParaRPr lang="en-US" sz="1600" b="0" dirty="0">
              <a:solidFill>
                <a:srgbClr val="8B98B8"/>
              </a:solidFill>
              <a:latin typeface="Inte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1965960" cy="56692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400" b="1">
                <a:solidFill>
                  <a:srgbClr val="0A0E1E"/>
                </a:solidFill>
                <a:latin typeface="Inter"/>
              </a:rPr>
              <a:t>QUOTED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8B8"/>
                </a:solidFill>
                <a:latin typeface="Inter"/>
              </a:rPr>
              <a:t>rubrica travada</a:t>
            </a: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8B8"/>
                </a:solidFill>
                <a:latin typeface="Inter"/>
              </a:rPr>
              <a:t>+ assinada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278892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8B98B8"/>
                </a:solidFill>
                <a:latin typeface="Inter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2743200"/>
            <a:ext cx="1965960" cy="56692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400" b="1">
                <a:solidFill>
                  <a:srgbClr val="0A0E1E"/>
                </a:solidFill>
                <a:latin typeface="Inter"/>
              </a:rPr>
              <a:t>FUNDED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338328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8B8"/>
                </a:solidFill>
                <a:latin typeface="Inter"/>
              </a:rPr>
              <a:t>policy passou</a:t>
            </a: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8B8"/>
                </a:solidFill>
                <a:latin typeface="Inter"/>
              </a:rPr>
              <a:t>$ no cofre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79" y="278892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8B98B8"/>
                </a:solidFill>
                <a:latin typeface="Inter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79" y="2743200"/>
            <a:ext cx="1965960" cy="56692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400" b="1">
                <a:solidFill>
                  <a:srgbClr val="0A0E1E"/>
                </a:solidFill>
                <a:latin typeface="Inter"/>
              </a:rPr>
              <a:t>DELIVERED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9" y="338328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8B8"/>
                </a:solidFill>
                <a:latin typeface="Inter"/>
              </a:rPr>
              <a:t>evidência</a:t>
            </a: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8B8"/>
                </a:solidFill>
                <a:latin typeface="Inter"/>
              </a:rPr>
              <a:t>+ hash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278892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8B98B8"/>
                </a:solidFill>
                <a:latin typeface="Inter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2743200"/>
            <a:ext cx="1965960" cy="56692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400" b="1">
                <a:solidFill>
                  <a:srgbClr val="0A0E1E"/>
                </a:solidFill>
                <a:latin typeface="Inter"/>
              </a:rPr>
              <a:t>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338328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8B8"/>
                </a:solidFill>
                <a:latin typeface="Inter"/>
              </a:rPr>
              <a:t>Stage A + painel</a:t>
            </a: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8B8"/>
                </a:solidFill>
                <a:latin typeface="Inter"/>
              </a:rPr>
              <a:t>2-de-3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278892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8B98B8"/>
                </a:solidFill>
                <a:latin typeface="Inter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2743200"/>
            <a:ext cx="1965960" cy="566928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400" b="1">
                <a:solidFill>
                  <a:srgbClr val="0A0E1E"/>
                </a:solidFill>
                <a:latin typeface="Inter"/>
              </a:rPr>
              <a:t>RELEASED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338328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8B8"/>
                </a:solidFill>
                <a:latin typeface="Inter"/>
              </a:rPr>
              <a:t>$ → seller</a:t>
            </a: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8B8"/>
                </a:solidFill>
                <a:latin typeface="Inter"/>
              </a:rPr>
              <a:t>rep +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343400"/>
            <a:ext cx="3383280" cy="1737360"/>
          </a:xfrm>
          <a:prstGeom prst="roundRect">
            <a:avLst>
              <a:gd name="adj" fmla="val 6000"/>
            </a:avLst>
          </a:prstGeom>
          <a:solidFill>
            <a:srgbClr val="111731"/>
          </a:solidFill>
          <a:ln w="12700">
            <a:solidFill>
              <a:srgbClr val="1C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24128" y="4526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8BDF8"/>
                </a:solidFill>
                <a:latin typeface="Inter"/>
              </a:rPr>
              <a:t>Verificação em 2 estágios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4937760"/>
            <a:ext cx="3017520" cy="66620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05000"/>
              </a:lnSpc>
            </a:pPr>
            <a:r>
              <a:rPr sz="1200" b="0" dirty="0">
                <a:solidFill>
                  <a:srgbClr val="8B98B8"/>
                </a:solidFill>
                <a:latin typeface="Inter"/>
              </a:rPr>
              <a:t>Stage A </a:t>
            </a:r>
            <a:r>
              <a:rPr sz="1200" b="0" dirty="0" err="1">
                <a:solidFill>
                  <a:srgbClr val="8B98B8"/>
                </a:solidFill>
                <a:latin typeface="Inter"/>
              </a:rPr>
              <a:t>determinístico</a:t>
            </a:r>
            <a:r>
              <a:rPr sz="1200" b="0" dirty="0">
                <a:solidFill>
                  <a:srgbClr val="8B98B8"/>
                </a:solidFill>
                <a:latin typeface="Inter"/>
              </a:rPr>
              <a:t> barra </a:t>
            </a:r>
            <a:r>
              <a:rPr sz="1200" b="0" dirty="0" err="1">
                <a:solidFill>
                  <a:srgbClr val="8B98B8"/>
                </a:solidFill>
                <a:latin typeface="Inter"/>
              </a:rPr>
              <a:t>falhas</a:t>
            </a:r>
            <a:r>
              <a:rPr sz="1200" b="0" dirty="0">
                <a:solidFill>
                  <a:srgbClr val="8B98B8"/>
                </a:solidFill>
                <a:latin typeface="Inter"/>
              </a:rPr>
              <a:t> </a:t>
            </a:r>
            <a:r>
              <a:rPr sz="1200" b="0" dirty="0" err="1">
                <a:solidFill>
                  <a:srgbClr val="8B98B8"/>
                </a:solidFill>
                <a:latin typeface="Inter"/>
              </a:rPr>
              <a:t>objetivas</a:t>
            </a:r>
            <a:r>
              <a:rPr lang="en-US" sz="1200" dirty="0">
                <a:solidFill>
                  <a:srgbClr val="8B98B8"/>
                </a:solidFill>
                <a:latin typeface="Inter"/>
              </a:rPr>
              <a:t> e</a:t>
            </a:r>
            <a:r>
              <a:rPr lang="en-US" sz="1200" b="0" dirty="0">
                <a:solidFill>
                  <a:srgbClr val="8B98B8"/>
                </a:solidFill>
                <a:latin typeface="Inter"/>
              </a:rPr>
              <a:t> </a:t>
            </a:r>
            <a:r>
              <a:rPr lang="en-US" sz="1200" dirty="0">
                <a:solidFill>
                  <a:srgbClr val="8B98B8"/>
                </a:solidFill>
                <a:latin typeface="Inter"/>
              </a:rPr>
              <a:t>o </a:t>
            </a:r>
            <a:r>
              <a:rPr sz="1200" b="0" dirty="0" err="1">
                <a:solidFill>
                  <a:srgbClr val="8B98B8"/>
                </a:solidFill>
                <a:latin typeface="Inter"/>
              </a:rPr>
              <a:t>painel</a:t>
            </a:r>
            <a:r>
              <a:rPr sz="1200" b="0" dirty="0">
                <a:solidFill>
                  <a:srgbClr val="8B98B8"/>
                </a:solidFill>
                <a:latin typeface="Inter"/>
              </a:rPr>
              <a:t> cross-capability vota o </a:t>
            </a:r>
            <a:r>
              <a:rPr sz="1200" b="0" dirty="0" err="1">
                <a:solidFill>
                  <a:srgbClr val="8B98B8"/>
                </a:solidFill>
                <a:latin typeface="Inter"/>
              </a:rPr>
              <a:t>subjetivo</a:t>
            </a:r>
            <a:r>
              <a:rPr sz="1200" b="0" dirty="0">
                <a:solidFill>
                  <a:srgbClr val="8B98B8"/>
                </a:solidFill>
                <a:latin typeface="Inter"/>
              </a:rPr>
              <a:t> com commit-reveal.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4343400"/>
            <a:ext cx="3383280" cy="1737360"/>
          </a:xfrm>
          <a:prstGeom prst="roundRect">
            <a:avLst>
              <a:gd name="adj" fmla="val 6000"/>
            </a:avLst>
          </a:prstGeom>
          <a:solidFill>
            <a:srgbClr val="111731"/>
          </a:solidFill>
          <a:ln w="12700">
            <a:solidFill>
              <a:srgbClr val="1C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36008" y="4526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BBF24"/>
                </a:solidFill>
                <a:latin typeface="Inter"/>
              </a:rPr>
              <a:t>Fail-closed de verdade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36008" y="4937760"/>
            <a:ext cx="3017520" cy="2784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05000"/>
              </a:lnSpc>
            </a:pPr>
            <a:r>
              <a:rPr sz="1200" b="0" dirty="0">
                <a:solidFill>
                  <a:srgbClr val="8B98B8"/>
                </a:solidFill>
                <a:latin typeface="Inter"/>
              </a:rPr>
              <a:t>Juiz </a:t>
            </a:r>
            <a:r>
              <a:rPr sz="1200" b="0" dirty="0" err="1">
                <a:solidFill>
                  <a:srgbClr val="8B98B8"/>
                </a:solidFill>
                <a:latin typeface="Inter"/>
              </a:rPr>
              <a:t>que</a:t>
            </a:r>
            <a:r>
              <a:rPr sz="1200" b="0" dirty="0">
                <a:solidFill>
                  <a:srgbClr val="8B98B8"/>
                </a:solidFill>
                <a:latin typeface="Inter"/>
              </a:rPr>
              <a:t> </a:t>
            </a:r>
            <a:r>
              <a:rPr sz="1200" b="0" dirty="0" err="1">
                <a:solidFill>
                  <a:srgbClr val="8B98B8"/>
                </a:solidFill>
                <a:latin typeface="Inter"/>
              </a:rPr>
              <a:t>cai</a:t>
            </a:r>
            <a:r>
              <a:rPr lang="en-US" sz="1200" dirty="0">
                <a:solidFill>
                  <a:srgbClr val="8B98B8"/>
                </a:solidFill>
                <a:latin typeface="Inter"/>
              </a:rPr>
              <a:t> é </a:t>
            </a:r>
            <a:r>
              <a:rPr lang="en-US" sz="1200" dirty="0" err="1">
                <a:solidFill>
                  <a:srgbClr val="8B98B8"/>
                </a:solidFill>
                <a:latin typeface="Inter"/>
              </a:rPr>
              <a:t>rejeitado</a:t>
            </a:r>
            <a:r>
              <a:rPr sz="1200" b="0" dirty="0">
                <a:solidFill>
                  <a:srgbClr val="8B98B8"/>
                </a:solidFill>
                <a:latin typeface="Inter"/>
              </a:rPr>
              <a:t> com</a:t>
            </a:r>
            <a:r>
              <a:rPr lang="en-US" sz="1200" dirty="0">
                <a:solidFill>
                  <a:srgbClr val="8B98B8"/>
                </a:solidFill>
                <a:latin typeface="Inter"/>
              </a:rPr>
              <a:t> </a:t>
            </a:r>
            <a:r>
              <a:rPr lang="en-US" sz="1200" dirty="0" err="1">
                <a:solidFill>
                  <a:srgbClr val="8B98B8"/>
                </a:solidFill>
                <a:latin typeface="Inter"/>
              </a:rPr>
              <a:t>confiança</a:t>
            </a:r>
            <a:r>
              <a:rPr lang="en-US" sz="1200" b="0" dirty="0">
                <a:solidFill>
                  <a:srgbClr val="8B98B8"/>
                </a:solidFill>
                <a:latin typeface="Inter"/>
              </a:rPr>
              <a:t> </a:t>
            </a:r>
            <a:r>
              <a:rPr lang="en-US" sz="1200" dirty="0">
                <a:solidFill>
                  <a:srgbClr val="8B98B8"/>
                </a:solidFill>
                <a:latin typeface="Inter"/>
              </a:rPr>
              <a:t>zero </a:t>
            </a:r>
            <a:r>
              <a:rPr sz="1200" b="0" dirty="0">
                <a:solidFill>
                  <a:srgbClr val="8B98B8"/>
                </a:solidFill>
                <a:latin typeface="Inter"/>
              </a:rPr>
              <a:t>0</a:t>
            </a:r>
            <a:endParaRPr lang="en-US" sz="1600" b="0">
              <a:solidFill>
                <a:srgbClr val="8B98B8"/>
              </a:solidFill>
              <a:latin typeface="Inter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8046720" y="4343400"/>
            <a:ext cx="3383280" cy="1737360"/>
          </a:xfrm>
          <a:prstGeom prst="roundRect">
            <a:avLst>
              <a:gd name="adj" fmla="val 6000"/>
            </a:avLst>
          </a:prstGeom>
          <a:solidFill>
            <a:srgbClr val="111731"/>
          </a:solidFill>
          <a:ln w="12700">
            <a:solidFill>
              <a:srgbClr val="1C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47888" y="4526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Inter"/>
              </a:rPr>
              <a:t>Humano só pela exceção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4937760"/>
            <a:ext cx="3017520" cy="47230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05000"/>
              </a:lnSpc>
            </a:pPr>
            <a:r>
              <a:rPr sz="1200" b="0" dirty="0" err="1">
                <a:solidFill>
                  <a:srgbClr val="8B98B8"/>
                </a:solidFill>
                <a:latin typeface="Inter"/>
              </a:rPr>
              <a:t>Disputa</a:t>
            </a:r>
            <a:r>
              <a:rPr sz="1200" b="0" dirty="0">
                <a:solidFill>
                  <a:srgbClr val="8B98B8"/>
                </a:solidFill>
                <a:latin typeface="Inter"/>
              </a:rPr>
              <a:t> e </a:t>
            </a:r>
            <a:r>
              <a:rPr sz="1200" b="0" dirty="0" err="1">
                <a:solidFill>
                  <a:srgbClr val="8B98B8"/>
                </a:solidFill>
                <a:latin typeface="Inter"/>
              </a:rPr>
              <a:t>arbitragem</a:t>
            </a:r>
            <a:r>
              <a:rPr sz="1200" b="0" dirty="0">
                <a:solidFill>
                  <a:srgbClr val="8B98B8"/>
                </a:solidFill>
                <a:latin typeface="Inter"/>
              </a:rPr>
              <a:t> </a:t>
            </a:r>
            <a:r>
              <a:rPr sz="1200" b="0" dirty="0" err="1">
                <a:solidFill>
                  <a:srgbClr val="8B98B8"/>
                </a:solidFill>
                <a:latin typeface="Inter"/>
              </a:rPr>
              <a:t>existem</a:t>
            </a:r>
            <a:r>
              <a:rPr lang="en-US" sz="1200" dirty="0">
                <a:solidFill>
                  <a:srgbClr val="8B98B8"/>
                </a:solidFill>
                <a:latin typeface="Inter"/>
              </a:rPr>
              <a:t>.</a:t>
            </a:r>
            <a:r>
              <a:rPr lang="en-US" sz="1200" b="0" dirty="0">
                <a:solidFill>
                  <a:srgbClr val="8B98B8"/>
                </a:solidFill>
                <a:latin typeface="Inter"/>
              </a:rPr>
              <a:t> </a:t>
            </a:r>
            <a:r>
              <a:rPr lang="en-US" sz="1200" dirty="0" err="1">
                <a:solidFill>
                  <a:srgbClr val="8B98B8"/>
                </a:solidFill>
                <a:latin typeface="Inter"/>
              </a:rPr>
              <a:t>Exemplos</a:t>
            </a:r>
            <a:r>
              <a:rPr lang="en-US" sz="1200" dirty="0">
                <a:solidFill>
                  <a:srgbClr val="8B98B8"/>
                </a:solidFill>
                <a:latin typeface="Inter"/>
              </a:rPr>
              <a:t>: MED</a:t>
            </a:r>
            <a:r>
              <a:rPr sz="1200" b="0" dirty="0">
                <a:solidFill>
                  <a:srgbClr val="8B98B8"/>
                </a:solidFill>
                <a:latin typeface="Inter"/>
              </a:rPr>
              <a:t> do Pix, o chargeback do Visa.</a:t>
            </a:r>
            <a:endParaRPr lang="en-US" sz="1200" b="0" dirty="0">
              <a:solidFill>
                <a:srgbClr val="8B98B8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deck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889000"/>
            <a:ext cx="8503920" cy="546317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3120" y="6334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DBE3F5"/>
                </a:solidFill>
                <a:latin typeface="Inter"/>
              </a:rPr>
              <a:t>Escrow e-bfb3f1434714: reasoning falhou → reject conf 0 → reasoning-pro + code aprovaram → RELEASED.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C01C18-3221-9CF7-BAFF-FD66D69F1B57}"/>
              </a:ext>
            </a:extLst>
          </p:cNvPr>
          <p:cNvSpPr txBox="1"/>
          <p:nvPr/>
        </p:nvSpPr>
        <p:spPr>
          <a:xfrm>
            <a:off x="822960" y="248920"/>
            <a:ext cx="10515600" cy="6463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3600" b="1" dirty="0">
                <a:solidFill>
                  <a:srgbClr val="FFFFFF"/>
                </a:solidFill>
                <a:latin typeface="Inter"/>
              </a:rPr>
              <a:t>Dados </a:t>
            </a:r>
            <a:r>
              <a:rPr lang="en-US" sz="3600" b="1" dirty="0" err="1">
                <a:solidFill>
                  <a:srgbClr val="FFFFFF"/>
                </a:solidFill>
                <a:latin typeface="Inter"/>
              </a:rPr>
              <a:t>em</a:t>
            </a:r>
            <a:r>
              <a:rPr lang="en-US" sz="3600" b="1" dirty="0">
                <a:solidFill>
                  <a:srgbClr val="FFFFFF"/>
                </a:solidFill>
                <a:latin typeface="Inter"/>
              </a:rPr>
              <a:t> real-time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65EFD"/>
                </a:solidFill>
                <a:latin typeface="Inter"/>
              </a:rPr>
              <a:t>RASTREABILIDADE &amp; CONFIANÇA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Tudo conectado. Tudo provável.</a:t>
            </a:r>
          </a:p>
        </p:txBody>
      </p:sp>
      <p:pic>
        <p:nvPicPr>
          <p:cNvPr id="5" name="Picture 4" descr="deck_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6949440" cy="44674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828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8BDF8"/>
                </a:solidFill>
                <a:latin typeface="Inter"/>
              </a:rPr>
              <a:t>Grafo de proveniência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2176272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8B98B8"/>
                </a:solidFill>
                <a:latin typeface="Inter"/>
              </a:rPr>
              <a:t>KYC → KYA → quote → escrow → votos → dinheiro, clicável.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971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8BDF8"/>
                </a:solidFill>
                <a:latin typeface="Inter"/>
              </a:rPr>
              <a:t>Trilha tamper-evident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3319272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8B98B8"/>
                </a:solidFill>
                <a:latin typeface="Inter"/>
              </a:rPr>
              <a:t>Adultere 1 caractere — verify_chain aponta o seq exato.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4114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8BDF8"/>
                </a:solidFill>
                <a:latin typeface="Inter"/>
              </a:rPr>
              <a:t>/explain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4462272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8B98B8"/>
                </a:solidFill>
                <a:latin typeface="Inter"/>
              </a:rPr>
              <a:t>Cada ação vem com o porquê derivado DOS DADOS — zero alucinação na auditoria.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5257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8BDF8"/>
                </a:solidFill>
                <a:latin typeface="Inter"/>
              </a:rPr>
              <a:t>Compliance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5605272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8B98B8"/>
                </a:solidFill>
                <a:latin typeface="Inter"/>
              </a:rPr>
              <a:t>Markdown que auditor lê, não log que operador finge.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65EFD"/>
                </a:solidFill>
                <a:latin typeface="Inter"/>
              </a:rPr>
              <a:t>O 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Quem tem o dinheiro em risco paga.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2234E5-BEF2-180C-9DBC-A90871E03314}"/>
              </a:ext>
            </a:extLst>
          </p:cNvPr>
          <p:cNvSpPr txBox="1"/>
          <p:nvPr/>
        </p:nvSpPr>
        <p:spPr>
          <a:xfrm>
            <a:off x="822960" y="26974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38BDF8"/>
                </a:solidFill>
                <a:latin typeface="Inter"/>
              </a:rPr>
              <a:t>01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010BC35-ADD8-6C3C-F5BD-8597FE73C8FF}"/>
              </a:ext>
            </a:extLst>
          </p:cNvPr>
          <p:cNvSpPr txBox="1"/>
          <p:nvPr/>
        </p:nvSpPr>
        <p:spPr>
          <a:xfrm>
            <a:off x="1544320" y="2740152"/>
            <a:ext cx="9875520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  <a:latin typeface="Inter"/>
              </a:rPr>
              <a:t>Fintechs, </a:t>
            </a:r>
            <a:r>
              <a:rPr lang="en-US" b="1" dirty="0" err="1">
                <a:solidFill>
                  <a:srgbClr val="FFFFFF"/>
                </a:solidFill>
                <a:latin typeface="Inter"/>
              </a:rPr>
              <a:t>bancos</a:t>
            </a:r>
            <a:r>
              <a:rPr lang="en-US" b="1" dirty="0">
                <a:solidFill>
                  <a:srgbClr val="FFFFFF"/>
                </a:solidFill>
                <a:latin typeface="Inter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Inter"/>
              </a:rPr>
              <a:t>digitais</a:t>
            </a:r>
            <a:r>
              <a:rPr lang="en-US" b="1" dirty="0">
                <a:solidFill>
                  <a:srgbClr val="FFFFFF"/>
                </a:solidFill>
                <a:latin typeface="Inter"/>
              </a:rPr>
              <a:t> e enterprises </a:t>
            </a:r>
            <a:r>
              <a:rPr lang="en-US" b="1" dirty="0" err="1">
                <a:solidFill>
                  <a:srgbClr val="FFFFFF"/>
                </a:solidFill>
                <a:latin typeface="Inter"/>
              </a:rPr>
              <a:t>pilotando</a:t>
            </a:r>
            <a:r>
              <a:rPr lang="en-US" b="1" dirty="0">
                <a:solidFill>
                  <a:srgbClr val="FFFFFF"/>
                </a:solidFill>
                <a:latin typeface="Inter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Inter"/>
              </a:rPr>
              <a:t>pagamentos</a:t>
            </a:r>
            <a:r>
              <a:rPr lang="en-US" b="1" dirty="0">
                <a:solidFill>
                  <a:srgbClr val="FFFFFF"/>
                </a:solidFill>
                <a:latin typeface="Inter"/>
              </a:rPr>
              <a:t> agentic (A2A / x402 / AP2)</a:t>
            </a:r>
            <a:r>
              <a:rPr b="1" dirty="0">
                <a:solidFill>
                  <a:srgbClr val="FFFFFF"/>
                </a:solidFill>
                <a:latin typeface="Inter"/>
              </a:rPr>
              <a:t>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1D85A4E-F018-D6FA-938E-BF00B363BB63}"/>
              </a:ext>
            </a:extLst>
          </p:cNvPr>
          <p:cNvSpPr txBox="1"/>
          <p:nvPr/>
        </p:nvSpPr>
        <p:spPr>
          <a:xfrm>
            <a:off x="822960" y="370839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BBF24"/>
                </a:solidFill>
                <a:latin typeface="Inter"/>
              </a:rPr>
              <a:t>02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8E47D43-D474-E0AA-0DFE-AD117ABF2B56}"/>
              </a:ext>
            </a:extLst>
          </p:cNvPr>
          <p:cNvSpPr txBox="1"/>
          <p:nvPr/>
        </p:nvSpPr>
        <p:spPr>
          <a:xfrm>
            <a:off x="1544320" y="3756151"/>
            <a:ext cx="9875520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  <a:latin typeface="Inter"/>
              </a:rPr>
              <a:t>Quem </a:t>
            </a:r>
            <a:r>
              <a:rPr lang="en-US" b="1" dirty="0" err="1">
                <a:solidFill>
                  <a:srgbClr val="FFFFFF"/>
                </a:solidFill>
                <a:latin typeface="Inter"/>
              </a:rPr>
              <a:t>toma</a:t>
            </a:r>
            <a:r>
              <a:rPr lang="en-US" b="1" dirty="0">
                <a:solidFill>
                  <a:srgbClr val="FFFFFF"/>
                </a:solidFill>
                <a:latin typeface="Inter"/>
              </a:rPr>
              <a:t> a </a:t>
            </a:r>
            <a:r>
              <a:rPr lang="en-US" b="1" dirty="0" err="1">
                <a:solidFill>
                  <a:srgbClr val="FFFFFF"/>
                </a:solidFill>
                <a:latin typeface="Inter"/>
              </a:rPr>
              <a:t>decisão</a:t>
            </a:r>
            <a:r>
              <a:rPr lang="en-US" b="1" dirty="0">
                <a:solidFill>
                  <a:srgbClr val="FFFFFF"/>
                </a:solidFill>
                <a:latin typeface="Inter"/>
              </a:rPr>
              <a:t>: Head de </a:t>
            </a:r>
            <a:r>
              <a:rPr lang="en-US" b="1" dirty="0" err="1">
                <a:solidFill>
                  <a:srgbClr val="FFFFFF"/>
                </a:solidFill>
                <a:latin typeface="Inter"/>
              </a:rPr>
              <a:t>plataforma</a:t>
            </a:r>
            <a:r>
              <a:rPr lang="en-US" b="1" dirty="0">
                <a:solidFill>
                  <a:srgbClr val="FFFFFF"/>
                </a:solidFill>
                <a:latin typeface="Inter"/>
              </a:rPr>
              <a:t> de IA + Compliance Officer</a:t>
            </a:r>
            <a:endParaRPr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08CDFDE-D680-C143-6E93-A6D6A8C6CDE1}"/>
              </a:ext>
            </a:extLst>
          </p:cNvPr>
          <p:cNvSpPr txBox="1"/>
          <p:nvPr/>
        </p:nvSpPr>
        <p:spPr>
          <a:xfrm>
            <a:off x="822960" y="47599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87171"/>
                </a:solidFill>
                <a:latin typeface="Inter"/>
              </a:rPr>
              <a:t>03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5B5726E-4238-0623-301B-2DE4DC906DC0}"/>
              </a:ext>
            </a:extLst>
          </p:cNvPr>
          <p:cNvSpPr txBox="1"/>
          <p:nvPr/>
        </p:nvSpPr>
        <p:spPr>
          <a:xfrm>
            <a:off x="1544320" y="4680710"/>
            <a:ext cx="9875520" cy="6463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  <a:latin typeface="Inter"/>
              </a:rPr>
              <a:t>A </a:t>
            </a:r>
            <a:r>
              <a:rPr lang="en-US" b="1" dirty="0" err="1">
                <a:solidFill>
                  <a:srgbClr val="FFFFFF"/>
                </a:solidFill>
                <a:latin typeface="Inter"/>
              </a:rPr>
              <a:t>dor</a:t>
            </a:r>
            <a:r>
              <a:rPr lang="en-US" b="1" dirty="0">
                <a:solidFill>
                  <a:srgbClr val="FFFFFF"/>
                </a:solidFill>
                <a:latin typeface="Inter"/>
              </a:rPr>
              <a:t>: “meu </a:t>
            </a:r>
            <a:r>
              <a:rPr lang="en-US" b="1" dirty="0" err="1">
                <a:solidFill>
                  <a:srgbClr val="FFFFFF"/>
                </a:solidFill>
                <a:latin typeface="Inter"/>
              </a:rPr>
              <a:t>agente</a:t>
            </a:r>
            <a:r>
              <a:rPr lang="en-US" b="1" dirty="0">
                <a:solidFill>
                  <a:srgbClr val="FFFFFF"/>
                </a:solidFill>
                <a:latin typeface="Inter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Inter"/>
              </a:rPr>
              <a:t>paga</a:t>
            </a:r>
            <a:r>
              <a:rPr lang="en-US" b="1" dirty="0">
                <a:solidFill>
                  <a:srgbClr val="FFFFFF"/>
                </a:solidFill>
                <a:latin typeface="Inter"/>
              </a:rPr>
              <a:t> o </a:t>
            </a:r>
            <a:r>
              <a:rPr lang="en-US" b="1" dirty="0" err="1">
                <a:solidFill>
                  <a:srgbClr val="FFFFFF"/>
                </a:solidFill>
                <a:latin typeface="Inter"/>
              </a:rPr>
              <a:t>agente</a:t>
            </a:r>
            <a:r>
              <a:rPr lang="en-US" b="1" dirty="0">
                <a:solidFill>
                  <a:srgbClr val="FFFFFF"/>
                </a:solidFill>
                <a:latin typeface="Inter"/>
              </a:rPr>
              <a:t> de </a:t>
            </a:r>
            <a:r>
              <a:rPr lang="en-US" b="1" dirty="0" err="1">
                <a:solidFill>
                  <a:srgbClr val="FFFFFF"/>
                </a:solidFill>
                <a:latin typeface="Inter"/>
              </a:rPr>
              <a:t>outra</a:t>
            </a:r>
            <a:r>
              <a:rPr lang="en-US" b="1" dirty="0">
                <a:solidFill>
                  <a:srgbClr val="FFFFFF"/>
                </a:solidFill>
                <a:latin typeface="Inter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Inter"/>
              </a:rPr>
              <a:t>empresa</a:t>
            </a:r>
            <a:r>
              <a:rPr lang="en-US" b="1" dirty="0">
                <a:solidFill>
                  <a:srgbClr val="FFFFFF"/>
                </a:solidFill>
                <a:latin typeface="Inter"/>
              </a:rPr>
              <a:t> e </a:t>
            </a:r>
            <a:r>
              <a:rPr lang="en-US" b="1" dirty="0" err="1">
                <a:solidFill>
                  <a:srgbClr val="FFFFFF"/>
                </a:solidFill>
                <a:latin typeface="Inter"/>
              </a:rPr>
              <a:t>eu</a:t>
            </a:r>
            <a:r>
              <a:rPr lang="en-US" b="1" dirty="0">
                <a:solidFill>
                  <a:srgbClr val="FFFFFF"/>
                </a:solidFill>
                <a:latin typeface="Inter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Inter"/>
              </a:rPr>
              <a:t>não</a:t>
            </a:r>
            <a:r>
              <a:rPr lang="en-US" b="1" dirty="0">
                <a:solidFill>
                  <a:srgbClr val="FFFFFF"/>
                </a:solidFill>
                <a:latin typeface="Inter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Inter"/>
              </a:rPr>
              <a:t>tenho</a:t>
            </a:r>
            <a:r>
              <a:rPr lang="en-US" b="1" dirty="0">
                <a:solidFill>
                  <a:srgbClr val="FFFFFF"/>
                </a:solidFill>
                <a:latin typeface="Inter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Inter"/>
              </a:rPr>
              <a:t>como</a:t>
            </a:r>
            <a:r>
              <a:rPr lang="en-US" b="1" dirty="0">
                <a:solidFill>
                  <a:srgbClr val="FFFFFF"/>
                </a:solidFill>
                <a:latin typeface="Inter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Inter"/>
              </a:rPr>
              <a:t>provar</a:t>
            </a:r>
            <a:r>
              <a:rPr lang="en-US" b="1" dirty="0">
                <a:solidFill>
                  <a:srgbClr val="FFFFFF"/>
                </a:solidFill>
                <a:latin typeface="Inter"/>
              </a:rPr>
              <a:t> para o board e para o </a:t>
            </a:r>
            <a:r>
              <a:rPr lang="en-US" b="1" dirty="0" err="1">
                <a:solidFill>
                  <a:srgbClr val="FFFFFF"/>
                </a:solidFill>
                <a:latin typeface="Inter"/>
              </a:rPr>
              <a:t>regulador</a:t>
            </a:r>
            <a:r>
              <a:rPr lang="en-US" b="1" dirty="0">
                <a:solidFill>
                  <a:srgbClr val="FFFFFF"/>
                </a:solidFill>
                <a:latin typeface="Inter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Inter"/>
              </a:rPr>
              <a:t>que</a:t>
            </a:r>
            <a:r>
              <a:rPr lang="en-US" b="1" dirty="0">
                <a:solidFill>
                  <a:srgbClr val="FFFFFF"/>
                </a:solidFill>
                <a:latin typeface="Inter"/>
              </a:rPr>
              <a:t> o </a:t>
            </a:r>
            <a:r>
              <a:rPr lang="en-US" b="1" dirty="0" err="1">
                <a:solidFill>
                  <a:srgbClr val="FFFFFF"/>
                </a:solidFill>
                <a:latin typeface="Inter"/>
              </a:rPr>
              <a:t>trabalho</a:t>
            </a:r>
            <a:r>
              <a:rPr lang="en-US" b="1" dirty="0">
                <a:solidFill>
                  <a:srgbClr val="FFFFFF"/>
                </a:solidFill>
                <a:latin typeface="Inter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Inter"/>
              </a:rPr>
              <a:t>foi</a:t>
            </a:r>
            <a:r>
              <a:rPr lang="en-US" b="1" dirty="0">
                <a:solidFill>
                  <a:srgbClr val="FFFFFF"/>
                </a:solidFill>
                <a:latin typeface="Inter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Inter"/>
              </a:rPr>
              <a:t>verificado</a:t>
            </a:r>
            <a:r>
              <a:rPr lang="en-US" b="1" dirty="0">
                <a:solidFill>
                  <a:srgbClr val="FFFFFF"/>
                </a:solidFill>
                <a:latin typeface="Inter"/>
              </a:rPr>
              <a:t>, </a:t>
            </a:r>
            <a:r>
              <a:rPr lang="en-US" b="1" dirty="0" err="1">
                <a:solidFill>
                  <a:srgbClr val="FFFFFF"/>
                </a:solidFill>
                <a:latin typeface="Inter"/>
              </a:rPr>
              <a:t>especialmente</a:t>
            </a:r>
            <a:r>
              <a:rPr lang="en-US" b="1" dirty="0">
                <a:solidFill>
                  <a:srgbClr val="FFFFFF"/>
                </a:solidFill>
                <a:latin typeface="Inter"/>
              </a:rPr>
              <a:t> de forma </a:t>
            </a:r>
            <a:r>
              <a:rPr lang="en-US" b="1" dirty="0" err="1">
                <a:solidFill>
                  <a:srgbClr val="FFFFFF"/>
                </a:solidFill>
                <a:latin typeface="Inter"/>
              </a:rPr>
              <a:t>escalável</a:t>
            </a:r>
            <a:r>
              <a:rPr lang="en-US" b="1" dirty="0">
                <a:solidFill>
                  <a:srgbClr val="FFFFFF"/>
                </a:solidFill>
                <a:latin typeface="Inter"/>
              </a:rPr>
              <a:t>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65EFD"/>
                </a:solidFill>
                <a:latin typeface="Inter"/>
              </a:rPr>
              <a:t>POR QUE AGORA · POR QUE A 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61555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3400" b="1" dirty="0" err="1">
                <a:solidFill>
                  <a:srgbClr val="FFFFFF"/>
                </a:solidFill>
                <a:latin typeface="Inter"/>
              </a:rPr>
              <a:t>Nossas</a:t>
            </a:r>
            <a:r>
              <a:rPr lang="en-US" sz="3400" b="1" dirty="0">
                <a:solidFill>
                  <a:srgbClr val="FFFFFF"/>
                </a:solidFill>
                <a:latin typeface="Inter"/>
              </a:rPr>
              <a:t> </a:t>
            </a:r>
            <a:r>
              <a:rPr lang="en-US" sz="3400" b="1" dirty="0" err="1">
                <a:solidFill>
                  <a:srgbClr val="FFFFFF"/>
                </a:solidFill>
                <a:latin typeface="Inter"/>
              </a:rPr>
              <a:t>razões</a:t>
            </a:r>
            <a:endParaRPr lang="en-US" dirty="0" err="1"/>
          </a:p>
        </p:txBody>
      </p:sp>
      <p:sp>
        <p:nvSpPr>
          <p:cNvPr id="5" name="Rectangle 4"/>
          <p:cNvSpPr/>
          <p:nvPr/>
        </p:nvSpPr>
        <p:spPr>
          <a:xfrm>
            <a:off x="822960" y="2316480"/>
            <a:ext cx="10515600" cy="9525"/>
          </a:xfrm>
          <a:prstGeom prst="rect">
            <a:avLst/>
          </a:prstGeom>
          <a:solidFill>
            <a:srgbClr val="1C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04240" y="2672080"/>
            <a:ext cx="3383280" cy="2377440"/>
          </a:xfrm>
          <a:prstGeom prst="roundRect">
            <a:avLst>
              <a:gd name="adj" fmla="val 6000"/>
            </a:avLst>
          </a:prstGeom>
          <a:solidFill>
            <a:srgbClr val="111731"/>
          </a:solidFill>
          <a:ln w="12700">
            <a:solidFill>
              <a:srgbClr val="1C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05408" y="28549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38BDF8"/>
                </a:solidFill>
                <a:latin typeface="Inter"/>
              </a:rPr>
              <a:t>Timing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5408" y="3312160"/>
            <a:ext cx="3017520" cy="71654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dirty="0">
                <a:solidFill>
                  <a:srgbClr val="8B98B8"/>
                </a:solidFill>
                <a:latin typeface="Inter"/>
              </a:rPr>
              <a:t>AP2 (Mastercard, PayPal, Amex), ACP (</a:t>
            </a:r>
            <a:r>
              <a:rPr sz="1250" b="0" dirty="0" err="1">
                <a:solidFill>
                  <a:srgbClr val="8B98B8"/>
                </a:solidFill>
                <a:latin typeface="Inter"/>
              </a:rPr>
              <a:t>OpenAI+Stripe</a:t>
            </a:r>
            <a:r>
              <a:rPr sz="1250" b="0" dirty="0">
                <a:solidFill>
                  <a:srgbClr val="8B98B8"/>
                </a:solidFill>
                <a:latin typeface="Inter"/>
              </a:rPr>
              <a:t>), x402 (Coinbase), ERC-8004 (Ethereum).</a:t>
            </a:r>
            <a:endParaRPr lang="en-US" sz="1250" b="0" dirty="0">
              <a:solidFill>
                <a:srgbClr val="8B98B8"/>
              </a:solidFill>
              <a:latin typeface="Inter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485640" y="2672080"/>
            <a:ext cx="3383280" cy="2377440"/>
          </a:xfrm>
          <a:prstGeom prst="roundRect">
            <a:avLst>
              <a:gd name="adj" fmla="val 6000"/>
            </a:avLst>
          </a:prstGeom>
          <a:solidFill>
            <a:srgbClr val="111731"/>
          </a:solidFill>
          <a:ln w="12700">
            <a:solidFill>
              <a:srgbClr val="1C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86808" y="28549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34D399"/>
                </a:solidFill>
                <a:latin typeface="Inter"/>
              </a:rPr>
              <a:t>Moat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6808" y="3312160"/>
            <a:ext cx="3017520" cy="71654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10000"/>
              </a:lnSpc>
            </a:pPr>
            <a:r>
              <a:rPr lang="en-US" sz="1250" dirty="0" err="1">
                <a:solidFill>
                  <a:srgbClr val="8B98B8"/>
                </a:solidFill>
                <a:latin typeface="Inter"/>
              </a:rPr>
              <a:t>Reputação</a:t>
            </a:r>
            <a:r>
              <a:rPr lang="en-US" sz="1250" dirty="0">
                <a:solidFill>
                  <a:srgbClr val="8B98B8"/>
                </a:solidFill>
                <a:latin typeface="Inter"/>
              </a:rPr>
              <a:t> </a:t>
            </a:r>
            <a:r>
              <a:rPr lang="en-US" sz="1250" dirty="0" err="1">
                <a:solidFill>
                  <a:srgbClr val="8B98B8"/>
                </a:solidFill>
                <a:latin typeface="Inter"/>
              </a:rPr>
              <a:t>descentralizada</a:t>
            </a:r>
            <a:r>
              <a:rPr sz="1250" b="0" dirty="0">
                <a:solidFill>
                  <a:srgbClr val="8B98B8"/>
                </a:solidFill>
                <a:latin typeface="Inter"/>
              </a:rPr>
              <a:t>: </a:t>
            </a:r>
            <a:r>
              <a:rPr sz="1250" b="0" dirty="0" err="1">
                <a:solidFill>
                  <a:srgbClr val="8B98B8"/>
                </a:solidFill>
                <a:latin typeface="Inter"/>
              </a:rPr>
              <a:t>cada</a:t>
            </a:r>
            <a:r>
              <a:rPr sz="1250" b="0" dirty="0">
                <a:solidFill>
                  <a:srgbClr val="8B98B8"/>
                </a:solidFill>
                <a:latin typeface="Inter"/>
              </a:rPr>
              <a:t> escrow settled </a:t>
            </a:r>
            <a:r>
              <a:rPr sz="1250" b="0" dirty="0" err="1">
                <a:solidFill>
                  <a:srgbClr val="8B98B8"/>
                </a:solidFill>
                <a:latin typeface="Inter"/>
              </a:rPr>
              <a:t>melhora</a:t>
            </a:r>
            <a:r>
              <a:rPr sz="1250" b="0" dirty="0">
                <a:solidFill>
                  <a:srgbClr val="8B98B8"/>
                </a:solidFill>
                <a:latin typeface="Inter"/>
              </a:rPr>
              <a:t> o score de </a:t>
            </a:r>
            <a:r>
              <a:rPr sz="1250" b="0" dirty="0" err="1">
                <a:solidFill>
                  <a:srgbClr val="8B98B8"/>
                </a:solidFill>
                <a:latin typeface="Inter"/>
              </a:rPr>
              <a:t>todos</a:t>
            </a:r>
            <a:r>
              <a:rPr sz="1250" b="0" dirty="0">
                <a:solidFill>
                  <a:srgbClr val="8B98B8"/>
                </a:solidFill>
                <a:latin typeface="Inter"/>
              </a:rPr>
              <a:t>. Dados de </a:t>
            </a:r>
            <a:r>
              <a:rPr sz="1250" b="0" dirty="0" err="1">
                <a:solidFill>
                  <a:srgbClr val="8B98B8"/>
                </a:solidFill>
                <a:latin typeface="Inter"/>
              </a:rPr>
              <a:t>confiança</a:t>
            </a:r>
            <a:r>
              <a:rPr sz="1250" b="0" dirty="0">
                <a:solidFill>
                  <a:srgbClr val="8B98B8"/>
                </a:solidFill>
                <a:latin typeface="Inter"/>
              </a:rPr>
              <a:t> </a:t>
            </a:r>
            <a:r>
              <a:rPr sz="1250" b="0" dirty="0" err="1">
                <a:solidFill>
                  <a:srgbClr val="8B98B8"/>
                </a:solidFill>
                <a:latin typeface="Inter"/>
              </a:rPr>
              <a:t>que</a:t>
            </a:r>
            <a:r>
              <a:rPr sz="1250" b="0" dirty="0">
                <a:solidFill>
                  <a:srgbClr val="8B98B8"/>
                </a:solidFill>
                <a:latin typeface="Inter"/>
              </a:rPr>
              <a:t> </a:t>
            </a:r>
            <a:r>
              <a:rPr sz="1250" b="0" dirty="0" err="1">
                <a:solidFill>
                  <a:srgbClr val="8B98B8"/>
                </a:solidFill>
                <a:latin typeface="Inter"/>
              </a:rPr>
              <a:t>ninguém</a:t>
            </a:r>
            <a:r>
              <a:rPr sz="1250" b="0" dirty="0">
                <a:solidFill>
                  <a:srgbClr val="8B98B8"/>
                </a:solidFill>
                <a:latin typeface="Inter"/>
              </a:rPr>
              <a:t> </a:t>
            </a:r>
            <a:r>
              <a:rPr sz="1250" b="0" dirty="0" err="1">
                <a:solidFill>
                  <a:srgbClr val="8B98B8"/>
                </a:solidFill>
                <a:latin typeface="Inter"/>
              </a:rPr>
              <a:t>constrói</a:t>
            </a:r>
            <a:r>
              <a:rPr sz="1250" b="0" dirty="0">
                <a:solidFill>
                  <a:srgbClr val="8B98B8"/>
                </a:solidFill>
                <a:latin typeface="Inter"/>
              </a:rPr>
              <a:t> </a:t>
            </a:r>
            <a:r>
              <a:rPr sz="1250" b="0" dirty="0" err="1">
                <a:solidFill>
                  <a:srgbClr val="8B98B8"/>
                </a:solidFill>
                <a:latin typeface="Inter"/>
              </a:rPr>
              <a:t>sozinho</a:t>
            </a:r>
            <a:r>
              <a:rPr sz="1250" b="0" dirty="0">
                <a:solidFill>
                  <a:srgbClr val="8B98B8"/>
                </a:solidFill>
                <a:latin typeface="Inter"/>
              </a:rPr>
              <a:t>.</a:t>
            </a:r>
            <a:r>
              <a:rPr lang="en-US" sz="1250" dirty="0">
                <a:solidFill>
                  <a:srgbClr val="8B98B8"/>
                </a:solidFill>
                <a:latin typeface="Inter"/>
              </a:rPr>
              <a:t> </a:t>
            </a:r>
            <a:endParaRPr sz="1250" b="0" dirty="0">
              <a:solidFill>
                <a:srgbClr val="8B98B8"/>
              </a:solidFill>
              <a:latin typeface="Inter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046720" y="2651760"/>
            <a:ext cx="3383280" cy="2377440"/>
          </a:xfrm>
          <a:prstGeom prst="roundRect">
            <a:avLst>
              <a:gd name="adj" fmla="val 6000"/>
            </a:avLst>
          </a:prstGeom>
          <a:solidFill>
            <a:srgbClr val="111731"/>
          </a:solidFill>
          <a:ln w="12700">
            <a:solidFill>
              <a:srgbClr val="1C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47888" y="28346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BBF24"/>
                </a:solidFill>
                <a:latin typeface="Inter"/>
              </a:rPr>
              <a:t>Defesa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329184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8B98B8"/>
                </a:solidFill>
                <a:latin typeface="Inter"/>
              </a:rPr>
              <a:t>Open-core do verifier + export PROV-O/W3C + BYO judge. Padrão aberto é como a gente vira padrão.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440680"/>
            <a:ext cx="10515600" cy="57329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00" b="0" dirty="0" err="1">
                <a:solidFill>
                  <a:srgbClr val="FFFFFF"/>
                </a:solidFill>
                <a:latin typeface="Inter"/>
              </a:rPr>
              <a:t>Não</a:t>
            </a:r>
            <a:r>
              <a:rPr sz="1400" b="0" dirty="0">
                <a:solidFill>
                  <a:srgbClr val="FFFFFF"/>
                </a:solidFill>
                <a:latin typeface="Inter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Inter"/>
              </a:rPr>
              <a:t>somos</a:t>
            </a:r>
            <a:r>
              <a:rPr sz="1400" b="0" dirty="0">
                <a:solidFill>
                  <a:srgbClr val="FFFFFF"/>
                </a:solidFill>
                <a:latin typeface="Inter"/>
              </a:rPr>
              <a:t> PSP, </a:t>
            </a:r>
            <a:r>
              <a:rPr sz="1400" b="0" dirty="0" err="1">
                <a:solidFill>
                  <a:srgbClr val="FFFFFF"/>
                </a:solidFill>
                <a:latin typeface="Inter"/>
              </a:rPr>
              <a:t>não</a:t>
            </a:r>
            <a:r>
              <a:rPr sz="1400" b="0" dirty="0">
                <a:solidFill>
                  <a:srgbClr val="FFFFFF"/>
                </a:solidFill>
                <a:latin typeface="Inter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Inter"/>
              </a:rPr>
              <a:t>somos</a:t>
            </a:r>
            <a:r>
              <a:rPr sz="1400" b="0" dirty="0">
                <a:solidFill>
                  <a:srgbClr val="FFFFFF"/>
                </a:solidFill>
                <a:latin typeface="Inter"/>
              </a:rPr>
              <a:t> marketplace, </a:t>
            </a:r>
            <a:r>
              <a:rPr sz="1400" b="0" dirty="0" err="1">
                <a:solidFill>
                  <a:srgbClr val="FFFFFF"/>
                </a:solidFill>
                <a:latin typeface="Inter"/>
              </a:rPr>
              <a:t>não</a:t>
            </a:r>
            <a:r>
              <a:rPr sz="1400" b="0" dirty="0">
                <a:solidFill>
                  <a:srgbClr val="FFFFFF"/>
                </a:solidFill>
                <a:latin typeface="Inter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Inter"/>
              </a:rPr>
              <a:t>competimos</a:t>
            </a:r>
            <a:r>
              <a:rPr sz="1400" b="0" dirty="0">
                <a:solidFill>
                  <a:srgbClr val="FFFFFF"/>
                </a:solidFill>
                <a:latin typeface="Inter"/>
              </a:rPr>
              <a:t> com </a:t>
            </a:r>
            <a:r>
              <a:rPr sz="1400" b="0" dirty="0" err="1">
                <a:solidFill>
                  <a:srgbClr val="FFFFFF"/>
                </a:solidFill>
                <a:latin typeface="Inter"/>
              </a:rPr>
              <a:t>os</a:t>
            </a:r>
            <a:r>
              <a:rPr sz="1400" b="0" dirty="0">
                <a:solidFill>
                  <a:srgbClr val="FFFFFF"/>
                </a:solidFill>
                <a:latin typeface="Inter"/>
              </a:rPr>
              <a:t> rails</a:t>
            </a:r>
            <a:r>
              <a:rPr lang="en-US" sz="1400" dirty="0">
                <a:solidFill>
                  <a:srgbClr val="FFFFFF"/>
                </a:solidFill>
                <a:latin typeface="Inter"/>
              </a:rPr>
              <a:t>. </a:t>
            </a:r>
            <a:r>
              <a:rPr lang="en-US" sz="1400" b="1" dirty="0">
                <a:solidFill>
                  <a:srgbClr val="FFFFFF"/>
                </a:solidFill>
                <a:latin typeface="Inter"/>
              </a:rPr>
              <a:t>Somos</a:t>
            </a:r>
            <a:r>
              <a:rPr sz="1400" b="1" dirty="0">
                <a:solidFill>
                  <a:srgbClr val="FFFFFF"/>
                </a:solidFill>
                <a:latin typeface="Inter"/>
              </a:rPr>
              <a:t> a </a:t>
            </a:r>
            <a:r>
              <a:rPr sz="1400" b="1" dirty="0" err="1">
                <a:solidFill>
                  <a:srgbClr val="FFFFFF"/>
                </a:solidFill>
                <a:latin typeface="Inter"/>
              </a:rPr>
              <a:t>camada</a:t>
            </a:r>
            <a:r>
              <a:rPr sz="1400" b="1" dirty="0">
                <a:solidFill>
                  <a:srgbClr val="FFFFFF"/>
                </a:solidFill>
                <a:latin typeface="Inter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Inter"/>
              </a:rPr>
              <a:t>que</a:t>
            </a:r>
            <a:r>
              <a:rPr sz="1400" b="1" dirty="0">
                <a:solidFill>
                  <a:srgbClr val="FFFFFF"/>
                </a:solidFill>
                <a:latin typeface="Inter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Inter"/>
              </a:rPr>
              <a:t>falta</a:t>
            </a:r>
            <a:r>
              <a:rPr sz="1400" b="1" dirty="0">
                <a:solidFill>
                  <a:srgbClr val="FFFFFF"/>
                </a:solidFill>
                <a:latin typeface="Inter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Inter"/>
              </a:rPr>
              <a:t>em</a:t>
            </a:r>
            <a:r>
              <a:rPr sz="1400" b="1" dirty="0">
                <a:solidFill>
                  <a:srgbClr val="FFFFFF"/>
                </a:solidFill>
                <a:latin typeface="Inter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Inter"/>
              </a:rPr>
              <a:t>cima</a:t>
            </a:r>
            <a:r>
              <a:rPr sz="1400" b="1" dirty="0">
                <a:solidFill>
                  <a:srgbClr val="FFFFFF"/>
                </a:solidFill>
                <a:latin typeface="Inter"/>
              </a:rPr>
              <a:t> deles. Quanto </a:t>
            </a:r>
            <a:r>
              <a:rPr sz="1400" b="1" dirty="0" err="1">
                <a:solidFill>
                  <a:srgbClr val="FFFFFF"/>
                </a:solidFill>
                <a:latin typeface="Inter"/>
              </a:rPr>
              <a:t>maior</a:t>
            </a:r>
            <a:r>
              <a:rPr sz="1400" b="1" dirty="0">
                <a:solidFill>
                  <a:srgbClr val="FFFFFF"/>
                </a:solidFill>
                <a:latin typeface="Inter"/>
              </a:rPr>
              <a:t> o volume deles, </a:t>
            </a:r>
            <a:r>
              <a:rPr sz="1400" b="1" dirty="0" err="1">
                <a:solidFill>
                  <a:srgbClr val="FFFFFF"/>
                </a:solidFill>
                <a:latin typeface="Inter"/>
              </a:rPr>
              <a:t>maior</a:t>
            </a:r>
            <a:r>
              <a:rPr sz="1400" b="1" dirty="0">
                <a:solidFill>
                  <a:srgbClr val="FFFFFF"/>
                </a:solidFill>
                <a:latin typeface="Inter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Inter"/>
              </a:rPr>
              <a:t>nosso</a:t>
            </a:r>
            <a:r>
              <a:rPr sz="1400" b="1" dirty="0">
                <a:solidFill>
                  <a:srgbClr val="FFFFFF"/>
                </a:solidFill>
                <a:latin typeface="Inter"/>
              </a:rPr>
              <a:t> mercado.</a:t>
            </a:r>
            <a:endParaRPr lang="en-US" b="1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07200"/>
            <a:ext cx="12191695" cy="50800"/>
          </a:xfrm>
          <a:prstGeom prst="rect">
            <a:avLst/>
          </a:prstGeom>
          <a:solidFill>
            <a:srgbClr val="533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4480560"/>
            <a:ext cx="10515600" cy="9525"/>
          </a:xfrm>
          <a:prstGeom prst="rect">
            <a:avLst/>
          </a:prstGeom>
          <a:solidFill>
            <a:srgbClr val="1C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4754880"/>
            <a:ext cx="10515600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sz="2400" b="1" dirty="0" err="1">
                <a:solidFill>
                  <a:srgbClr val="665EFD"/>
                </a:solidFill>
                <a:latin typeface="Inter"/>
              </a:rPr>
              <a:t>EvidenceGate</a:t>
            </a:r>
            <a:r>
              <a:rPr lang="en-US" sz="2400" b="1" dirty="0">
                <a:solidFill>
                  <a:srgbClr val="665EFD"/>
                </a:solidFill>
                <a:latin typeface="Inter"/>
              </a:rPr>
              <a:t>. </a:t>
            </a:r>
            <a:r>
              <a:rPr lang="en-US" sz="2400" b="1" dirty="0" err="1">
                <a:solidFill>
                  <a:srgbClr val="665EFD"/>
                </a:solidFill>
                <a:latin typeface="Inter"/>
              </a:rPr>
              <a:t>Fé</a:t>
            </a:r>
            <a:r>
              <a:rPr sz="2400" b="1" dirty="0">
                <a:solidFill>
                  <a:srgbClr val="665EFD"/>
                </a:solidFill>
                <a:latin typeface="Inter"/>
              </a:rPr>
              <a:t> </a:t>
            </a:r>
            <a:r>
              <a:rPr sz="2400" b="1" dirty="0" err="1">
                <a:solidFill>
                  <a:srgbClr val="665EFD"/>
                </a:solidFill>
                <a:latin typeface="Inter"/>
              </a:rPr>
              <a:t>pública</a:t>
            </a:r>
            <a:r>
              <a:rPr sz="2400" b="1" dirty="0">
                <a:solidFill>
                  <a:srgbClr val="665EFD"/>
                </a:solidFill>
                <a:latin typeface="Inter"/>
              </a:rPr>
              <a:t> </a:t>
            </a:r>
            <a:r>
              <a:rPr sz="2400" b="1" dirty="0" err="1">
                <a:solidFill>
                  <a:srgbClr val="665EFD"/>
                </a:solidFill>
                <a:latin typeface="Inter"/>
              </a:rPr>
              <a:t>programável</a:t>
            </a:r>
            <a:r>
              <a:rPr sz="2400" b="1" dirty="0">
                <a:solidFill>
                  <a:srgbClr val="665EFD"/>
                </a:solidFill>
                <a:latin typeface="Inter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8B8"/>
                </a:solidFill>
                <a:latin typeface="Inter"/>
              </a:rPr>
              <a:t>evidencegate.163-192-115-82.sslip.io · github.com/acarloshenrique/evidencegate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C43248-1E55-0A4C-49EB-6577B7315177}"/>
              </a:ext>
            </a:extLst>
          </p:cNvPr>
          <p:cNvSpPr txBox="1"/>
          <p:nvPr/>
        </p:nvSpPr>
        <p:spPr>
          <a:xfrm>
            <a:off x="822960" y="1468120"/>
            <a:ext cx="10515600" cy="218521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3400" dirty="0">
                <a:solidFill>
                  <a:srgbClr val="FFFFFF"/>
                </a:solidFill>
                <a:latin typeface="Inter"/>
              </a:rPr>
              <a:t>O </a:t>
            </a:r>
            <a:r>
              <a:rPr lang="en-US" sz="3400" dirty="0" err="1">
                <a:solidFill>
                  <a:srgbClr val="FFFFFF"/>
                </a:solidFill>
                <a:latin typeface="Inter"/>
              </a:rPr>
              <a:t>ecossistema</a:t>
            </a:r>
            <a:r>
              <a:rPr lang="en-US" sz="3400" dirty="0">
                <a:solidFill>
                  <a:srgbClr val="FFFFFF"/>
                </a:solidFill>
                <a:latin typeface="Inter"/>
              </a:rPr>
              <a:t> </a:t>
            </a:r>
            <a:r>
              <a:rPr lang="en-US" sz="3400" dirty="0" err="1">
                <a:solidFill>
                  <a:srgbClr val="FFFFFF"/>
                </a:solidFill>
                <a:latin typeface="Inter"/>
              </a:rPr>
              <a:t>está</a:t>
            </a:r>
            <a:r>
              <a:rPr lang="en-US" sz="3400" dirty="0">
                <a:solidFill>
                  <a:srgbClr val="FFFFFF"/>
                </a:solidFill>
                <a:latin typeface="Inter"/>
              </a:rPr>
              <a:t> </a:t>
            </a:r>
            <a:r>
              <a:rPr lang="en-US" sz="3400" dirty="0" err="1">
                <a:solidFill>
                  <a:srgbClr val="FFFFFF"/>
                </a:solidFill>
                <a:latin typeface="Inter"/>
              </a:rPr>
              <a:t>quase</a:t>
            </a:r>
            <a:r>
              <a:rPr lang="en-US" sz="3400" dirty="0">
                <a:solidFill>
                  <a:srgbClr val="FFFFFF"/>
                </a:solidFill>
                <a:latin typeface="Inter"/>
              </a:rPr>
              <a:t> </a:t>
            </a:r>
            <a:r>
              <a:rPr lang="en-US" sz="3400" dirty="0" err="1">
                <a:solidFill>
                  <a:srgbClr val="FFFFFF"/>
                </a:solidFill>
                <a:latin typeface="Inter"/>
              </a:rPr>
              <a:t>completo</a:t>
            </a:r>
            <a:r>
              <a:rPr lang="en-US" sz="3400" dirty="0">
                <a:solidFill>
                  <a:srgbClr val="FFFFFF"/>
                </a:solidFill>
                <a:latin typeface="Inter"/>
              </a:rPr>
              <a:t>, mas </a:t>
            </a:r>
            <a:r>
              <a:rPr lang="en-US" sz="3400" dirty="0" err="1">
                <a:solidFill>
                  <a:srgbClr val="FFFFFF"/>
                </a:solidFill>
                <a:latin typeface="Inter"/>
              </a:rPr>
              <a:t>falta</a:t>
            </a:r>
            <a:r>
              <a:rPr lang="en-US" sz="3400" dirty="0">
                <a:solidFill>
                  <a:srgbClr val="FFFFFF"/>
                </a:solidFill>
                <a:latin typeface="Inter"/>
              </a:rPr>
              <a:t> a </a:t>
            </a:r>
            <a:r>
              <a:rPr lang="en-US" sz="3400" dirty="0" err="1">
                <a:solidFill>
                  <a:srgbClr val="FFFFFF"/>
                </a:solidFill>
                <a:latin typeface="Inter"/>
              </a:rPr>
              <a:t>camada</a:t>
            </a:r>
            <a:r>
              <a:rPr lang="en-US" sz="3400" dirty="0">
                <a:solidFill>
                  <a:srgbClr val="FFFFFF"/>
                </a:solidFill>
                <a:latin typeface="Inter"/>
              </a:rPr>
              <a:t> de </a:t>
            </a:r>
            <a:r>
              <a:rPr lang="en-US" sz="3400" dirty="0" err="1">
                <a:solidFill>
                  <a:srgbClr val="FFFFFF"/>
                </a:solidFill>
                <a:latin typeface="Inter"/>
              </a:rPr>
              <a:t>segurança</a:t>
            </a:r>
            <a:r>
              <a:rPr lang="en-US" sz="3400" dirty="0">
                <a:solidFill>
                  <a:srgbClr val="FFFFFF"/>
                </a:solidFill>
                <a:latin typeface="Inter"/>
              </a:rPr>
              <a:t>...</a:t>
            </a:r>
          </a:p>
          <a:p>
            <a:endParaRPr lang="en-US" sz="3400" b="1" dirty="0">
              <a:solidFill>
                <a:srgbClr val="FFFFFF"/>
              </a:solidFill>
              <a:latin typeface="Inter"/>
            </a:endParaRPr>
          </a:p>
          <a:p>
            <a:r>
              <a:rPr lang="en-US" sz="3400" b="1" dirty="0">
                <a:solidFill>
                  <a:srgbClr val="FFFFFF"/>
                </a:solidFill>
                <a:latin typeface="Inter"/>
              </a:rPr>
              <a:t>Falta a </a:t>
            </a:r>
            <a:r>
              <a:rPr lang="en-US" sz="3400" b="1" dirty="0" err="1">
                <a:solidFill>
                  <a:srgbClr val="FFFFFF"/>
                </a:solidFill>
                <a:latin typeface="Inter"/>
              </a:rPr>
              <a:t>EvidenceGate</a:t>
            </a:r>
            <a:r>
              <a:rPr lang="en-US" sz="3400" b="1" dirty="0">
                <a:solidFill>
                  <a:srgbClr val="FFFFFF"/>
                </a:solidFill>
                <a:latin typeface="Inter"/>
              </a:rPr>
              <a:t>.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142</cp:revision>
  <dcterms:created xsi:type="dcterms:W3CDTF">2013-01-27T09:14:16Z</dcterms:created>
  <dcterms:modified xsi:type="dcterms:W3CDTF">2026-09-20T13:55:18Z</dcterms:modified>
  <cp:category/>
</cp:coreProperties>
</file>