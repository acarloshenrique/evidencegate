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33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665EFD"/>
                </a:solidFill>
                <a:latin typeface="Inter"/>
              </a:rPr>
              <a:t>NEURALAKE · CHALLENGE 5 — AGENT TRUST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>
                <a:solidFill>
                  <a:srgbClr val="FFFFFF"/>
                </a:solidFill>
                <a:latin typeface="Inter"/>
              </a:rPr>
              <a:t>EvidenceGate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DBE3F5"/>
                </a:solidFill>
                <a:latin typeface="Inter"/>
              </a:rPr>
              <a:t>Fé pública programável para a economia de agentes.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886200"/>
            <a:ext cx="10515600" cy="9525"/>
          </a:xfrm>
          <a:prstGeom prst="rect">
            <a:avLst/>
          </a:prstGeom>
          <a:solidFill>
            <a:srgbClr val="1C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206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665EFD"/>
                </a:solidFill>
                <a:latin typeface="Inter"/>
              </a:rPr>
              <a:t>Quando agentes pagam agentes, quem confere o trabalho?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B98B8"/>
                </a:solidFill>
                <a:latin typeface="Inter"/>
              </a:rPr>
              <a:t>evidencegate.163-192-115-82.sslip.io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665EFD"/>
                </a:solidFill>
                <a:latin typeface="Inter"/>
              </a:rPr>
              <a:t>O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Inter"/>
              </a:rPr>
              <a:t>Os trilhos movem dinheiro.</a:t>
            </a:r>
          </a:p>
          <a:p>
            <a:pPr algn="l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Inter"/>
              </a:rPr>
              <a:t>Ninguém confere o trabalho.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377440"/>
            <a:ext cx="10515600" cy="9525"/>
          </a:xfrm>
          <a:prstGeom prst="rect">
            <a:avLst/>
          </a:prstGeom>
          <a:solidFill>
            <a:srgbClr val="1C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38BDF8"/>
                </a:solidFill>
                <a:latin typeface="Inter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679192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Inter"/>
              </a:rPr>
              <a:t>A2A fez agentes conversarem. x402 e AP2 fizeram agentes pagarem.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10896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8B98B8"/>
                </a:solidFill>
                <a:latin typeface="Inter"/>
              </a:rPr>
              <a:t>O trilho existe — o controle de qualidade, não.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49039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BBF24"/>
                </a:solidFill>
                <a:latin typeface="Inter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730752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Inter"/>
              </a:rPr>
              <a:t>Humano conferindo cada transação não escala.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416052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8B98B8"/>
                </a:solidFill>
                <a:latin typeface="Inter"/>
              </a:rPr>
              <a:t>Se agente trabalha em milissegundo, o humano vira o gargalo — e mata a tese A2A.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8006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87171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782312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Inter"/>
              </a:rPr>
              <a:t>Empresa nenhuma deixa agente mover dinheiro sem prova.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521208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8B98B8"/>
                </a:solidFill>
                <a:latin typeface="Inter"/>
              </a:rPr>
              <a:t>Sem camada de verificação, o piloto de agentic payments não sai do lab.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65EFD"/>
                </a:solidFill>
                <a:latin typeface="Inter"/>
              </a:rPr>
              <a:t>“Autorização pergunta se devia pagar. Verificação pergunta se o trabalho foi bom. Você precisa dos dois.”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665EFD"/>
                </a:solidFill>
                <a:latin typeface="Inter"/>
              </a:rPr>
              <a:t>A SOLUÇÃO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Inter"/>
              </a:rPr>
              <a:t>O cofre só abre com prova.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8B98B8"/>
                </a:solidFill>
                <a:latin typeface="Inter"/>
              </a:rPr>
              <a:t>Escrow verificado: settlement é consequência da verificação, não um passo separado.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1965960" cy="56692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400" b="1">
                <a:solidFill>
                  <a:srgbClr val="0A0E1E"/>
                </a:solidFill>
                <a:latin typeface="Inter"/>
              </a:rPr>
              <a:t>QUOTED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8328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B98B8"/>
                </a:solidFill>
                <a:latin typeface="Inter"/>
              </a:rPr>
              <a:t>rubrica travada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B98B8"/>
                </a:solidFill>
                <a:latin typeface="Inter"/>
              </a:rPr>
              <a:t>+ assinada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27889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8B98B8"/>
                </a:solidFill>
                <a:latin typeface="Inter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2743200"/>
            <a:ext cx="1965960" cy="56692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400" b="1">
                <a:solidFill>
                  <a:srgbClr val="0A0E1E"/>
                </a:solidFill>
                <a:latin typeface="Inter"/>
              </a:rPr>
              <a:t>FUNDED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338328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B98B8"/>
                </a:solidFill>
                <a:latin typeface="Inter"/>
              </a:rPr>
              <a:t>policy passou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B98B8"/>
                </a:solidFill>
                <a:latin typeface="Inter"/>
              </a:rPr>
              <a:t>$ no cofre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79" y="27889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8B98B8"/>
                </a:solidFill>
                <a:latin typeface="Inter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79" y="2743200"/>
            <a:ext cx="1965960" cy="56692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400" b="1">
                <a:solidFill>
                  <a:srgbClr val="0A0E1E"/>
                </a:solidFill>
                <a:latin typeface="Inter"/>
              </a:rPr>
              <a:t>DELIVERED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9" y="338328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B98B8"/>
                </a:solidFill>
                <a:latin typeface="Inter"/>
              </a:rPr>
              <a:t>evidência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B98B8"/>
                </a:solidFill>
                <a:latin typeface="Inter"/>
              </a:rPr>
              <a:t>+ hash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27889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8B98B8"/>
                </a:solidFill>
                <a:latin typeface="Inter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2743200"/>
            <a:ext cx="1965960" cy="56692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400" b="1">
                <a:solidFill>
                  <a:srgbClr val="0A0E1E"/>
                </a:solidFill>
                <a:latin typeface="Inter"/>
              </a:rPr>
              <a:t>VERIFIED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338328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B98B8"/>
                </a:solidFill>
                <a:latin typeface="Inter"/>
              </a:rPr>
              <a:t>Stage A + painel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B98B8"/>
                </a:solidFill>
                <a:latin typeface="Inter"/>
              </a:rPr>
              <a:t>2-de-3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27889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8B98B8"/>
                </a:solidFill>
                <a:latin typeface="Inter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2743200"/>
            <a:ext cx="1965960" cy="566928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400" b="1">
                <a:solidFill>
                  <a:srgbClr val="0A0E1E"/>
                </a:solidFill>
                <a:latin typeface="Inter"/>
              </a:rPr>
              <a:t>RELEASED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338328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B98B8"/>
                </a:solidFill>
                <a:latin typeface="Inter"/>
              </a:rPr>
              <a:t>$ → seller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B98B8"/>
                </a:solidFill>
                <a:latin typeface="Inter"/>
              </a:rPr>
              <a:t>rep +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343400"/>
            <a:ext cx="3383280" cy="1737360"/>
          </a:xfrm>
          <a:prstGeom prst="roundRect">
            <a:avLst>
              <a:gd name="adj" fmla="val 6000"/>
            </a:avLst>
          </a:prstGeom>
          <a:solidFill>
            <a:srgbClr val="111731"/>
          </a:solidFill>
          <a:ln w="12700">
            <a:solidFill>
              <a:srgbClr val="1C2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526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8BDF8"/>
                </a:solidFill>
                <a:latin typeface="Inter"/>
              </a:rPr>
              <a:t>Verificação em 2 estágios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49377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B98B8"/>
                </a:solidFill>
                <a:latin typeface="Inter"/>
              </a:rPr>
              <a:t>Stage A determinístico (grátis) barra falhas objetivas; painel cross-capability vota o subjetivo com commit-reveal.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4343400"/>
            <a:ext cx="3383280" cy="1737360"/>
          </a:xfrm>
          <a:prstGeom prst="roundRect">
            <a:avLst>
              <a:gd name="adj" fmla="val 6000"/>
            </a:avLst>
          </a:prstGeom>
          <a:solidFill>
            <a:srgbClr val="111731"/>
          </a:solidFill>
          <a:ln w="12700">
            <a:solidFill>
              <a:srgbClr val="1C2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8" y="4526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BBF24"/>
                </a:solidFill>
                <a:latin typeface="Inter"/>
              </a:rPr>
              <a:t>Fail-closed de verdade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8" y="49377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B98B8"/>
                </a:solidFill>
                <a:latin typeface="Inter"/>
              </a:rPr>
              <a:t>Juiz que cai vira reject com conf 0 — a banca decide mesmo assim. Provado ao vivo, duas vezes.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4343400"/>
            <a:ext cx="3383280" cy="1737360"/>
          </a:xfrm>
          <a:prstGeom prst="roundRect">
            <a:avLst>
              <a:gd name="adj" fmla="val 6000"/>
            </a:avLst>
          </a:prstGeom>
          <a:solidFill>
            <a:srgbClr val="111731"/>
          </a:solidFill>
          <a:ln w="12700">
            <a:solidFill>
              <a:srgbClr val="1C2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47888" y="4526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4D399"/>
                </a:solidFill>
                <a:latin typeface="Inter"/>
              </a:rPr>
              <a:t>Humano só pela exceção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7888" y="49377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B98B8"/>
                </a:solidFill>
                <a:latin typeface="Inter"/>
              </a:rPr>
              <a:t>Disputa e arbitragem existem — é o MED do Pix, o chargeback do Visa. Até a exceção fica na trilha.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665EFD"/>
                </a:solidFill>
                <a:latin typeface="Inter"/>
              </a:rPr>
              <a:t>FUNCIONA DE VERDADE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Inter"/>
              </a:rPr>
              <a:t>Não é mock. É produção ao vivo.</a:t>
            </a:r>
          </a:p>
        </p:txBody>
      </p:sp>
      <p:pic>
        <p:nvPicPr>
          <p:cNvPr id="5" name="Picture 4" descr="deck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91640"/>
            <a:ext cx="6949440" cy="446749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46720" y="1783080"/>
            <a:ext cx="3383280" cy="960120"/>
          </a:xfrm>
          <a:prstGeom prst="roundRect">
            <a:avLst>
              <a:gd name="adj" fmla="val 6000"/>
            </a:avLst>
          </a:prstGeom>
          <a:solidFill>
            <a:srgbClr val="111731"/>
          </a:solidFill>
          <a:ln w="12700">
            <a:solidFill>
              <a:srgbClr val="1C2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874519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34D399"/>
                </a:solidFill>
                <a:latin typeface="Inter"/>
              </a:rPr>
              <a:t>6 escrows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31343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B98B8"/>
                </a:solidFill>
                <a:latin typeface="Inter"/>
              </a:rPr>
              <a:t>liquidados com juízes reais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898648"/>
            <a:ext cx="3383280" cy="960120"/>
          </a:xfrm>
          <a:prstGeom prst="roundRect">
            <a:avLst>
              <a:gd name="adj" fmla="val 6000"/>
            </a:avLst>
          </a:prstGeom>
          <a:solidFill>
            <a:srgbClr val="111731"/>
          </a:solidFill>
          <a:ln w="12700">
            <a:solidFill>
              <a:srgbClr val="1C2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99008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BBF24"/>
                </a:solidFill>
                <a:latin typeface="Inter"/>
              </a:rPr>
              <a:t>$0.0047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4290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B98B8"/>
                </a:solidFill>
                <a:latin typeface="Inter"/>
              </a:rPr>
              <a:t>de inferência — ~$0.001/decisão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4014215"/>
            <a:ext cx="3383280" cy="960120"/>
          </a:xfrm>
          <a:prstGeom prst="roundRect">
            <a:avLst>
              <a:gd name="adj" fmla="val 6000"/>
            </a:avLst>
          </a:prstGeom>
          <a:solidFill>
            <a:srgbClr val="111731"/>
          </a:solidFill>
          <a:ln w="12700">
            <a:solidFill>
              <a:srgbClr val="1C2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105655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38BDF8"/>
                </a:solidFill>
                <a:latin typeface="Inter"/>
              </a:rPr>
              <a:t>41 eventos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54456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B98B8"/>
                </a:solidFill>
                <a:latin typeface="Inter"/>
              </a:rPr>
              <a:t>trilha hash-chained íntegra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5129783"/>
            <a:ext cx="3383280" cy="960120"/>
          </a:xfrm>
          <a:prstGeom prst="roundRect">
            <a:avLst>
              <a:gd name="adj" fmla="val 6000"/>
            </a:avLst>
          </a:prstGeom>
          <a:solidFill>
            <a:srgbClr val="111731"/>
          </a:solidFill>
          <a:ln w="12700">
            <a:solidFill>
              <a:srgbClr val="1C2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5221223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87171"/>
                </a:solidFill>
                <a:latin typeface="Inter"/>
              </a:rPr>
              <a:t>2-de-3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5660136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B98B8"/>
                </a:solidFill>
                <a:latin typeface="Inter"/>
              </a:rPr>
              <a:t>juiz caiu ao vivo → fail-closed decidiu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263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DBE3F5"/>
                </a:solidFill>
                <a:latin typeface="Inter"/>
              </a:rPr>
              <a:t>Escrow e-bfb3f1434714: reasoning falhou → reject conf 0 → reasoning-pro + code aprovaram → RELEASED.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665EFD"/>
                </a:solidFill>
                <a:latin typeface="Inter"/>
              </a:rPr>
              <a:t>RASTREABILIDADE &amp; CONFIANÇA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Inter"/>
              </a:rPr>
              <a:t>Tudo conectado. Tudo provável.</a:t>
            </a:r>
          </a:p>
        </p:txBody>
      </p:sp>
      <p:pic>
        <p:nvPicPr>
          <p:cNvPr id="5" name="Picture 4" descr="deck_t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91640"/>
            <a:ext cx="6949440" cy="44674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46720" y="1828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8BDF8"/>
                </a:solidFill>
                <a:latin typeface="Inter"/>
              </a:rPr>
              <a:t>Grafo de proveniência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2176272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B98B8"/>
                </a:solidFill>
                <a:latin typeface="Inter"/>
              </a:rPr>
              <a:t>KYC → KYA → quote → escrow → votos → dinheiro, clicável.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971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8BDF8"/>
                </a:solidFill>
                <a:latin typeface="Inter"/>
              </a:rPr>
              <a:t>Trilha tamper-evident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3319272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B98B8"/>
                </a:solidFill>
                <a:latin typeface="Inter"/>
              </a:rPr>
              <a:t>Adultere 1 caractere — verify_chain aponta o seq exato.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114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8BDF8"/>
                </a:solidFill>
                <a:latin typeface="Inter"/>
              </a:rPr>
              <a:t>/explain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4462272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B98B8"/>
                </a:solidFill>
                <a:latin typeface="Inter"/>
              </a:rPr>
              <a:t>Cada ação vem com o porquê derivado DOS DADOS — zero alucinação na auditoria.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5257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8BDF8"/>
                </a:solidFill>
                <a:latin typeface="Inter"/>
              </a:rPr>
              <a:t>Compliance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5605272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B98B8"/>
                </a:solidFill>
                <a:latin typeface="Inter"/>
              </a:rPr>
              <a:t>Markdown que auditor lê, não log que operador finge.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665EFD"/>
                </a:solidFill>
                <a:latin typeface="Inter"/>
              </a:rPr>
              <a:t>O NEGÓCIO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Inter"/>
              </a:rPr>
              <a:t>Quem tem o dinheiro em risco paga.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120640" cy="4480560"/>
          </a:xfrm>
          <a:prstGeom prst="roundRect">
            <a:avLst>
              <a:gd name="adj" fmla="val 6000"/>
            </a:avLst>
          </a:prstGeom>
          <a:solidFill>
            <a:srgbClr val="111731"/>
          </a:solidFill>
          <a:ln w="12700">
            <a:solidFill>
              <a:srgbClr val="1C2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665EFD"/>
                </a:solidFill>
                <a:latin typeface="Inter"/>
              </a:rPr>
              <a:t>ICP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3172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DBE3F5"/>
                </a:solidFill>
                <a:latin typeface="Inter"/>
              </a:rPr>
              <a:t>Fintechs, bancos digitais e enterprises pilotando pagamentos agentic (A2A / x402 / AP2).</a:t>
            </a:r>
          </a:p>
          <a:p>
            <a:pPr algn="l">
              <a:lnSpc>
                <a:spcPct val="110000"/>
              </a:lnSpc>
            </a:pP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DBE3F5"/>
                </a:solidFill>
                <a:latin typeface="Inter"/>
              </a:rPr>
              <a:t>Decisor: Head of AI Platform + Compliance Officer — a venda só fecha com os dois.</a:t>
            </a:r>
          </a:p>
          <a:p>
            <a:pPr algn="l">
              <a:lnSpc>
                <a:spcPct val="110000"/>
              </a:lnSpc>
            </a:pP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DBE3F5"/>
                </a:solidFill>
                <a:latin typeface="Inter"/>
              </a:rPr>
              <a:t>A dor: “meu agente paga o agente de outra empresa e eu não tenho como provar pro board e pro regulador que o trabalho foi conferido.”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12080" cy="868680"/>
          </a:xfrm>
          <a:prstGeom prst="roundRect">
            <a:avLst>
              <a:gd name="adj" fmla="val 6000"/>
            </a:avLst>
          </a:prstGeom>
          <a:solidFill>
            <a:srgbClr val="111731"/>
          </a:solidFill>
          <a:ln w="12700">
            <a:solidFill>
              <a:srgbClr val="1C2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1051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38BDF8"/>
                </a:solidFill>
                <a:latin typeface="Inter"/>
              </a:rPr>
              <a:t>Verify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B98B8"/>
                </a:solidFill>
                <a:latin typeface="Inter"/>
              </a:rPr>
              <a:t>$0.10/decisão · self-serve, 100 grátis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761488"/>
            <a:ext cx="5212080" cy="868680"/>
          </a:xfrm>
          <a:prstGeom prst="roundRect">
            <a:avLst>
              <a:gd name="adj" fmla="val 6000"/>
            </a:avLst>
          </a:prstGeom>
          <a:solidFill>
            <a:srgbClr val="111731"/>
          </a:solidFill>
          <a:ln w="12700">
            <a:solidFill>
              <a:srgbClr val="1C2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834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34D399"/>
                </a:solidFill>
                <a:latin typeface="Inter"/>
              </a:rPr>
              <a:t>Settle 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21868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B98B8"/>
                </a:solidFill>
                <a:latin typeface="Inter"/>
              </a:rPr>
              <a:t>$999/mês + 0.5–1% do volume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785616"/>
            <a:ext cx="5212080" cy="868680"/>
          </a:xfrm>
          <a:prstGeom prst="roundRect">
            <a:avLst>
              <a:gd name="adj" fmla="val 6000"/>
            </a:avLst>
          </a:prstGeom>
          <a:solidFill>
            <a:srgbClr val="111731"/>
          </a:solidFill>
          <a:ln w="12700">
            <a:solidFill>
              <a:srgbClr val="1C2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85876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BBF24"/>
                </a:solidFill>
                <a:latin typeface="Inter"/>
              </a:rPr>
              <a:t>Enterprise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242816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B98B8"/>
                </a:solidFill>
                <a:latin typeface="Inter"/>
              </a:rPr>
              <a:t>VPC/self-host · BYO judge · arbitration desk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855464"/>
            <a:ext cx="5212080" cy="1325880"/>
          </a:xfrm>
          <a:prstGeom prst="roundRect">
            <a:avLst>
              <a:gd name="adj" fmla="val 6000"/>
            </a:avLst>
          </a:prstGeom>
          <a:solidFill>
            <a:srgbClr val="111731"/>
          </a:solidFill>
          <a:ln w="12700">
            <a:solidFill>
              <a:srgbClr val="1C2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946904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665EFD"/>
                </a:solidFill>
                <a:latin typeface="Inter"/>
              </a:rPr>
              <a:t>Unit economics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312664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8B98B8"/>
                </a:solidFill>
                <a:latin typeface="Inter"/>
              </a:rPr>
              <a:t>COGS $0.02/decisão → margem ~80%. Uma liquidação errada de $1.000 custa 10.000 verificações.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665EFD"/>
                </a:solidFill>
                <a:latin typeface="Inter"/>
              </a:rPr>
              <a:t>POR QUE AGORA · POR QUE A GENTE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Inter"/>
              </a:rPr>
              <a:t>Os trilhos estão prontos. A camada de confiança, não.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920240"/>
            <a:ext cx="10515600" cy="9525"/>
          </a:xfrm>
          <a:prstGeom prst="rect">
            <a:avLst/>
          </a:prstGeom>
          <a:solidFill>
            <a:srgbClr val="1C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94560"/>
            <a:ext cx="3383280" cy="2377440"/>
          </a:xfrm>
          <a:prstGeom prst="roundRect">
            <a:avLst>
              <a:gd name="adj" fmla="val 6000"/>
            </a:avLst>
          </a:prstGeom>
          <a:solidFill>
            <a:srgbClr val="111731"/>
          </a:solidFill>
          <a:ln w="12700">
            <a:solidFill>
              <a:srgbClr val="1C2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377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38BDF8"/>
                </a:solidFill>
                <a:latin typeface="Inter"/>
              </a:rPr>
              <a:t>Timing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8346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8B98B8"/>
                </a:solidFill>
                <a:latin typeface="Inter"/>
              </a:rPr>
              <a:t>AP2 (Mastercard, PayPal, Amex), ACP (OpenAI+Stripe), x402 (Coinbase), ERC-8004 (Ethereum). Todo o capital do mundo nos trilhos — ninguém na verificação.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194560"/>
            <a:ext cx="3383280" cy="2377440"/>
          </a:xfrm>
          <a:prstGeom prst="roundRect">
            <a:avLst>
              <a:gd name="adj" fmla="val 6000"/>
            </a:avLst>
          </a:prstGeom>
          <a:solidFill>
            <a:srgbClr val="111731"/>
          </a:solidFill>
          <a:ln w="12700">
            <a:solidFill>
              <a:srgbClr val="1C2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8" y="2377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34D399"/>
                </a:solidFill>
                <a:latin typeface="Inter"/>
              </a:rPr>
              <a:t>Moat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28346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8B98B8"/>
                </a:solidFill>
                <a:latin typeface="Inter"/>
              </a:rPr>
              <a:t>Registry de reputação: cada escrow settled melhora o score de todos. Dados de confiança que ninguém constrói sozinho — rede, não feature.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194560"/>
            <a:ext cx="3383280" cy="2377440"/>
          </a:xfrm>
          <a:prstGeom prst="roundRect">
            <a:avLst>
              <a:gd name="adj" fmla="val 6000"/>
            </a:avLst>
          </a:prstGeom>
          <a:solidFill>
            <a:srgbClr val="111731"/>
          </a:solidFill>
          <a:ln w="12700">
            <a:solidFill>
              <a:srgbClr val="1C2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2377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BBF24"/>
                </a:solidFill>
                <a:latin typeface="Inter"/>
              </a:rPr>
              <a:t>Defesa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8346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8B98B8"/>
                </a:solidFill>
                <a:latin typeface="Inter"/>
              </a:rPr>
              <a:t>Open-core do verifier + export PROV-O/W3C + BYO judge. Padrão aberto é como a gente vira padrão.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892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DBE3F5"/>
                </a:solidFill>
                <a:latin typeface="Inter"/>
              </a:rPr>
              <a:t>GTM: 3 design partners (piloto real, feedback brutal) → self-serve API → registry como rede.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440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B98B8"/>
                </a:solidFill>
                <a:latin typeface="Inter"/>
              </a:rPr>
              <a:t>Não somos PSP, não somos marketplace, não competimos com os rails — somos a camada que falta em cima deles. Quanto maior o volume deles, maior nosso mercado.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7200"/>
            <a:ext cx="12191695" cy="50800"/>
          </a:xfrm>
          <a:prstGeom prst="rect">
            <a:avLst/>
          </a:prstGeom>
          <a:solidFill>
            <a:srgbClr val="533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>
                <a:solidFill>
                  <a:srgbClr val="DBE3F5"/>
                </a:solidFill>
                <a:latin typeface="Inter"/>
              </a:rPr>
              <a:t>A gente não tirou o humano do sistema.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Tirou o humano do caminho.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8B98B8"/>
                </a:solidFill>
                <a:latin typeface="Inter"/>
              </a:rPr>
              <a:t>Settlement em velocidade de máquina. Humano só pela exceção — e até a exceção fica na trilha.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480560"/>
            <a:ext cx="10515600" cy="9525"/>
          </a:xfrm>
          <a:prstGeom prst="rect">
            <a:avLst/>
          </a:prstGeom>
          <a:solidFill>
            <a:srgbClr val="1C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754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665EFD"/>
                </a:solidFill>
                <a:latin typeface="Inter"/>
              </a:rPr>
              <a:t>EvidenceGate — fé pública programável.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B98B8"/>
                </a:solidFill>
                <a:latin typeface="Inter"/>
              </a:rPr>
              <a:t>evidencegate.163-192-115-82.sslip.io · github.com/acarloshenrique/evidencegate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